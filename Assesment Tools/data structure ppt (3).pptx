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7" r:id="rId10"/>
    <p:sldId id="268" r:id="rId11"/>
    <p:sldId id="269" r:id="rId12"/>
    <p:sldId id="264" r:id="rId13"/>
    <p:sldId id="265" r:id="rId14"/>
    <p:sldId id="266" r:id="rId1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p:cViewPr varScale="1">
        <p:scale>
          <a:sx n="63" d="100"/>
          <a:sy n="63" d="100"/>
        </p:scale>
        <p:origin x="58" y="3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FFRIN N" userId="e9253adb7f9449c5" providerId="LiveId" clId="{31B4EF48-A444-4635-A760-CEC02D8F6CC4}"/>
    <pc:docChg chg="modSld">
      <pc:chgData name="JAFFRIN N" userId="e9253adb7f9449c5" providerId="LiveId" clId="{31B4EF48-A444-4635-A760-CEC02D8F6CC4}" dt="2026-08-02T15:41:57.331" v="0" actId="1076"/>
      <pc:docMkLst>
        <pc:docMk/>
      </pc:docMkLst>
      <pc:sldChg chg="modSp mod">
        <pc:chgData name="JAFFRIN N" userId="e9253adb7f9449c5" providerId="LiveId" clId="{31B4EF48-A444-4635-A760-CEC02D8F6CC4}" dt="2026-08-02T15:41:57.331" v="0" actId="1076"/>
        <pc:sldMkLst>
          <pc:docMk/>
          <pc:sldMk cId="0" sldId="256"/>
        </pc:sldMkLst>
        <pc:spChg chg="mod">
          <ac:chgData name="JAFFRIN N" userId="e9253adb7f9449c5" providerId="LiveId" clId="{31B4EF48-A444-4635-A760-CEC02D8F6CC4}" dt="2026-08-02T15:41:57.331" v="0" actId="1076"/>
          <ac:spMkLst>
            <pc:docMk/>
            <pc:sldMk cId="0" sldId="25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950" b="0" i="0">
                <a:solidFill>
                  <a:schemeClr val="hlink"/>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15-07-2026</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hlink"/>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15-07-2026</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hlink"/>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15-07-2026</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hlink"/>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15-07-2026</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15-07-2026</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485245" y="209817"/>
            <a:ext cx="4173508" cy="961948"/>
          </a:xfrm>
          <a:prstGeom prst="rect">
            <a:avLst/>
          </a:prstGeom>
        </p:spPr>
        <p:txBody>
          <a:bodyPr wrap="square" lIns="0" tIns="0" rIns="0" bIns="0">
            <a:spAutoFit/>
          </a:bodyPr>
          <a:lstStyle>
            <a:lvl1pPr>
              <a:defRPr sz="3950" b="0" i="0">
                <a:solidFill>
                  <a:schemeClr val="hlink"/>
                </a:solidFill>
                <a:latin typeface="Times New Roman"/>
                <a:cs typeface="Times New Roman"/>
              </a:defRPr>
            </a:lvl1pPr>
          </a:lstStyle>
          <a:p>
            <a:endParaRPr/>
          </a:p>
        </p:txBody>
      </p:sp>
      <p:sp>
        <p:nvSpPr>
          <p:cNvPr id="3" name="Holder 3"/>
          <p:cNvSpPr>
            <a:spLocks noGrp="1"/>
          </p:cNvSpPr>
          <p:nvPr>
            <p:ph type="body" idx="1"/>
          </p:nvPr>
        </p:nvSpPr>
        <p:spPr>
          <a:xfrm>
            <a:off x="412750" y="1593850"/>
            <a:ext cx="8308340" cy="25761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0225" y="6466776"/>
            <a:ext cx="73596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20" dirty="0"/>
              <a:t>15-07-2026</a:t>
            </a:r>
          </a:p>
        </p:txBody>
      </p:sp>
      <p:sp>
        <p:nvSpPr>
          <p:cNvPr id="6" name="Holder 6"/>
          <p:cNvSpPr>
            <a:spLocks noGrp="1"/>
          </p:cNvSpPr>
          <p:nvPr>
            <p:ph type="sldNum" sz="quarter" idx="7"/>
          </p:nvPr>
        </p:nvSpPr>
        <p:spPr>
          <a:xfrm>
            <a:off x="8433891" y="6466776"/>
            <a:ext cx="217804"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60116" y="1821179"/>
            <a:ext cx="6953884" cy="310515"/>
          </a:xfrm>
          <a:prstGeom prst="rect">
            <a:avLst/>
          </a:prstGeom>
        </p:spPr>
        <p:txBody>
          <a:bodyPr vert="horz" wrap="square" lIns="0" tIns="15240" rIns="0" bIns="0" rtlCol="0">
            <a:spAutoFit/>
          </a:bodyPr>
          <a:lstStyle/>
          <a:p>
            <a:pPr marL="12700">
              <a:lnSpc>
                <a:spcPct val="100000"/>
              </a:lnSpc>
              <a:spcBef>
                <a:spcPts val="120"/>
              </a:spcBef>
            </a:pPr>
            <a:r>
              <a:rPr sz="1850" b="1" spc="-25" dirty="0">
                <a:solidFill>
                  <a:srgbClr val="E36C09"/>
                </a:solidFill>
                <a:latin typeface="Times New Roman"/>
                <a:cs typeface="Times New Roman"/>
              </a:rPr>
              <a:t>DEPARTMENT</a:t>
            </a:r>
            <a:r>
              <a:rPr sz="1850" b="1" spc="-30" dirty="0">
                <a:solidFill>
                  <a:srgbClr val="E36C09"/>
                </a:solidFill>
                <a:latin typeface="Times New Roman"/>
                <a:cs typeface="Times New Roman"/>
              </a:rPr>
              <a:t> </a:t>
            </a:r>
            <a:r>
              <a:rPr sz="1850" b="1" dirty="0">
                <a:solidFill>
                  <a:srgbClr val="E36C09"/>
                </a:solidFill>
                <a:latin typeface="Times New Roman"/>
                <a:cs typeface="Times New Roman"/>
              </a:rPr>
              <a:t>OF</a:t>
            </a:r>
            <a:r>
              <a:rPr sz="1850" b="1" spc="-65" dirty="0">
                <a:solidFill>
                  <a:srgbClr val="E36C09"/>
                </a:solidFill>
                <a:latin typeface="Times New Roman"/>
                <a:cs typeface="Times New Roman"/>
              </a:rPr>
              <a:t> </a:t>
            </a:r>
            <a:r>
              <a:rPr sz="1850" b="1" dirty="0">
                <a:solidFill>
                  <a:srgbClr val="E36C09"/>
                </a:solidFill>
                <a:latin typeface="Times New Roman"/>
                <a:cs typeface="Times New Roman"/>
              </a:rPr>
              <a:t>COMPUTER</a:t>
            </a:r>
            <a:r>
              <a:rPr sz="1850" b="1" spc="5" dirty="0">
                <a:solidFill>
                  <a:srgbClr val="E36C09"/>
                </a:solidFill>
                <a:latin typeface="Times New Roman"/>
                <a:cs typeface="Times New Roman"/>
              </a:rPr>
              <a:t> </a:t>
            </a:r>
            <a:r>
              <a:rPr sz="1850" b="1" spc="-10" dirty="0">
                <a:solidFill>
                  <a:srgbClr val="E36C09"/>
                </a:solidFill>
                <a:latin typeface="Times New Roman"/>
                <a:cs typeface="Times New Roman"/>
              </a:rPr>
              <a:t>SCIENCE</a:t>
            </a:r>
            <a:r>
              <a:rPr sz="1850" b="1" spc="-95" dirty="0">
                <a:solidFill>
                  <a:srgbClr val="E36C09"/>
                </a:solidFill>
                <a:latin typeface="Times New Roman"/>
                <a:cs typeface="Times New Roman"/>
              </a:rPr>
              <a:t> </a:t>
            </a:r>
            <a:r>
              <a:rPr sz="1850" b="1" dirty="0">
                <a:solidFill>
                  <a:srgbClr val="E36C09"/>
                </a:solidFill>
                <a:latin typeface="Times New Roman"/>
                <a:cs typeface="Times New Roman"/>
              </a:rPr>
              <a:t>AND</a:t>
            </a:r>
            <a:r>
              <a:rPr sz="1850" b="1" spc="10" dirty="0">
                <a:solidFill>
                  <a:srgbClr val="E36C09"/>
                </a:solidFill>
                <a:latin typeface="Times New Roman"/>
                <a:cs typeface="Times New Roman"/>
              </a:rPr>
              <a:t> </a:t>
            </a:r>
            <a:r>
              <a:rPr sz="1850" b="1" spc="-10" dirty="0">
                <a:solidFill>
                  <a:srgbClr val="E36C09"/>
                </a:solidFill>
                <a:latin typeface="Times New Roman"/>
                <a:cs typeface="Times New Roman"/>
              </a:rPr>
              <a:t>ENGINEERING</a:t>
            </a:r>
            <a:endParaRPr sz="1850">
              <a:latin typeface="Times New Roman"/>
              <a:cs typeface="Times New Roman"/>
            </a:endParaRPr>
          </a:p>
        </p:txBody>
      </p:sp>
      <p:sp>
        <p:nvSpPr>
          <p:cNvPr id="3" name="object 3" descr="$PPTXTitle"/>
          <p:cNvSpPr txBox="1">
            <a:spLocks noGrp="1"/>
          </p:cNvSpPr>
          <p:nvPr>
            <p:ph type="title"/>
          </p:nvPr>
        </p:nvSpPr>
        <p:spPr>
          <a:xfrm>
            <a:off x="2570354" y="2170856"/>
            <a:ext cx="3727450" cy="440055"/>
          </a:xfrm>
          <a:prstGeom prst="rect">
            <a:avLst/>
          </a:prstGeom>
        </p:spPr>
        <p:txBody>
          <a:bodyPr vert="horz" wrap="square" lIns="0" tIns="15240" rIns="0" bIns="0" rtlCol="0">
            <a:spAutoFit/>
          </a:bodyPr>
          <a:lstStyle/>
          <a:p>
            <a:pPr marL="12700">
              <a:lnSpc>
                <a:spcPct val="100000"/>
              </a:lnSpc>
              <a:spcBef>
                <a:spcPts val="120"/>
              </a:spcBef>
            </a:pPr>
            <a:r>
              <a:rPr sz="2700" dirty="0">
                <a:solidFill>
                  <a:schemeClr val="tx1"/>
                </a:solidFill>
              </a:rPr>
              <a:t>CSA0307-</a:t>
            </a:r>
            <a:r>
              <a:rPr sz="2700" spc="-5" dirty="0">
                <a:solidFill>
                  <a:schemeClr val="tx1"/>
                </a:solidFill>
              </a:rPr>
              <a:t> </a:t>
            </a:r>
            <a:r>
              <a:rPr sz="2700" dirty="0">
                <a:solidFill>
                  <a:schemeClr val="tx1"/>
                </a:solidFill>
              </a:rPr>
              <a:t>Data</a:t>
            </a:r>
            <a:r>
              <a:rPr sz="2700" spc="-5" dirty="0">
                <a:solidFill>
                  <a:schemeClr val="tx1"/>
                </a:solidFill>
              </a:rPr>
              <a:t> </a:t>
            </a:r>
            <a:r>
              <a:rPr sz="2700" spc="-10" dirty="0">
                <a:solidFill>
                  <a:schemeClr val="tx1"/>
                </a:solidFill>
              </a:rPr>
              <a:t>Structures</a:t>
            </a:r>
            <a:endParaRPr sz="2700" dirty="0">
              <a:solidFill>
                <a:schemeClr val="tx1"/>
              </a:solidFill>
            </a:endParaRPr>
          </a:p>
        </p:txBody>
      </p:sp>
      <p:sp>
        <p:nvSpPr>
          <p:cNvPr id="4" name="object 4"/>
          <p:cNvSpPr txBox="1"/>
          <p:nvPr/>
        </p:nvSpPr>
        <p:spPr>
          <a:xfrm>
            <a:off x="341312" y="2723862"/>
            <a:ext cx="8461375" cy="3393237"/>
          </a:xfrm>
          <a:prstGeom prst="rect">
            <a:avLst/>
          </a:prstGeom>
        </p:spPr>
        <p:txBody>
          <a:bodyPr vert="horz" wrap="square" lIns="0" tIns="15240" rIns="0" bIns="0" rtlCol="0">
            <a:spAutoFit/>
          </a:bodyPr>
          <a:lstStyle/>
          <a:p>
            <a:pPr>
              <a:lnSpc>
                <a:spcPct val="100000"/>
              </a:lnSpc>
              <a:spcBef>
                <a:spcPts val="135"/>
              </a:spcBef>
            </a:pPr>
            <a:r>
              <a:rPr lang="en-US" altLang="en-US" sz="2800" b="1" dirty="0">
                <a:latin typeface="Times New Roman" panose="02020603050405020304" pitchFamily="18" charset="0"/>
                <a:cs typeface="Times New Roman" panose="02020603050405020304" pitchFamily="18" charset="0"/>
                <a:sym typeface="Times New Roman" panose="02020603050405020304" pitchFamily="18" charset="0"/>
              </a:rPr>
              <a:t>         File Compression System (Huffman Coding)</a:t>
            </a:r>
            <a:br>
              <a:rPr lang="en-US" altLang="en-US" sz="2800" b="1" dirty="0">
                <a:latin typeface="Times New Roman" panose="02020603050405020304" pitchFamily="18" charset="0"/>
                <a:cs typeface="Times New Roman" panose="02020603050405020304" pitchFamily="18" charset="0"/>
                <a:sym typeface="Times New Roman" panose="02020603050405020304" pitchFamily="18" charset="0"/>
              </a:rPr>
            </a:br>
            <a:endParaRPr lang="en-US" altLang="en-US" sz="2700" b="1" dirty="0">
              <a:latin typeface="Times New Roman"/>
              <a:cs typeface="Times New Roman"/>
              <a:sym typeface="Times New Roman" panose="02020603050405020304" pitchFamily="18" charset="0"/>
            </a:endParaRPr>
          </a:p>
          <a:p>
            <a:pPr>
              <a:lnSpc>
                <a:spcPct val="100000"/>
              </a:lnSpc>
              <a:spcBef>
                <a:spcPts val="135"/>
              </a:spcBef>
            </a:pPr>
            <a:r>
              <a:rPr lang="en-US" sz="2700" b="1" dirty="0">
                <a:latin typeface="Times New Roman"/>
                <a:cs typeface="Times New Roman"/>
                <a:sym typeface="Times New Roman" panose="02020603050405020304" pitchFamily="18" charset="0"/>
              </a:rPr>
              <a:t>                                     </a:t>
            </a:r>
            <a:r>
              <a:rPr lang="en-US" sz="2700" dirty="0">
                <a:latin typeface="Times New Roman"/>
                <a:cs typeface="Times New Roman"/>
                <a:sym typeface="Times New Roman" panose="02020603050405020304" pitchFamily="18" charset="0"/>
              </a:rPr>
              <a:t>Presented by:</a:t>
            </a:r>
          </a:p>
          <a:p>
            <a:pPr>
              <a:lnSpc>
                <a:spcPct val="100000"/>
              </a:lnSpc>
              <a:spcBef>
                <a:spcPts val="135"/>
              </a:spcBef>
            </a:pPr>
            <a:r>
              <a:rPr lang="en-US" sz="2700" dirty="0">
                <a:latin typeface="Times New Roman"/>
                <a:cs typeface="Times New Roman"/>
                <a:sym typeface="Times New Roman" panose="02020603050405020304" pitchFamily="18" charset="0"/>
              </a:rPr>
              <a:t>                                </a:t>
            </a:r>
            <a:r>
              <a:rPr lang="en-US" sz="2700" dirty="0" err="1">
                <a:latin typeface="Times New Roman"/>
                <a:cs typeface="Times New Roman"/>
                <a:sym typeface="Times New Roman" panose="02020603050405020304" pitchFamily="18" charset="0"/>
              </a:rPr>
              <a:t>N.Jaffrin</a:t>
            </a:r>
            <a:r>
              <a:rPr lang="en-US" sz="2700" dirty="0">
                <a:latin typeface="Times New Roman"/>
                <a:cs typeface="Times New Roman"/>
                <a:sym typeface="Times New Roman" panose="02020603050405020304" pitchFamily="18" charset="0"/>
              </a:rPr>
              <a:t>(192521200)</a:t>
            </a:r>
          </a:p>
          <a:p>
            <a:pPr>
              <a:lnSpc>
                <a:spcPct val="100000"/>
              </a:lnSpc>
              <a:spcBef>
                <a:spcPts val="135"/>
              </a:spcBef>
            </a:pPr>
            <a:r>
              <a:rPr lang="en-US" sz="2700" dirty="0">
                <a:latin typeface="Times New Roman"/>
                <a:cs typeface="Times New Roman"/>
                <a:sym typeface="Times New Roman" panose="02020603050405020304" pitchFamily="18" charset="0"/>
              </a:rPr>
              <a:t>                                </a:t>
            </a:r>
            <a:r>
              <a:rPr lang="en-US" sz="2700" dirty="0" err="1">
                <a:latin typeface="Times New Roman"/>
                <a:cs typeface="Times New Roman"/>
                <a:sym typeface="Times New Roman" panose="02020603050405020304" pitchFamily="18" charset="0"/>
              </a:rPr>
              <a:t>M.Charumathi</a:t>
            </a:r>
            <a:r>
              <a:rPr lang="en-US" sz="2700" dirty="0">
                <a:latin typeface="Times New Roman"/>
                <a:cs typeface="Times New Roman"/>
                <a:sym typeface="Times New Roman" panose="02020603050405020304" pitchFamily="18" charset="0"/>
              </a:rPr>
              <a:t>(192524198)</a:t>
            </a:r>
          </a:p>
          <a:p>
            <a:pPr>
              <a:lnSpc>
                <a:spcPct val="100000"/>
              </a:lnSpc>
              <a:spcBef>
                <a:spcPts val="135"/>
              </a:spcBef>
            </a:pPr>
            <a:endParaRPr lang="en-US" sz="2700" b="1" dirty="0">
              <a:latin typeface="Times New Roman"/>
              <a:cs typeface="Times New Roman"/>
              <a:sym typeface="Times New Roman" panose="02020603050405020304" pitchFamily="18" charset="0"/>
            </a:endParaRPr>
          </a:p>
          <a:p>
            <a:pPr>
              <a:lnSpc>
                <a:spcPct val="100000"/>
              </a:lnSpc>
              <a:spcBef>
                <a:spcPts val="465"/>
              </a:spcBef>
            </a:pPr>
            <a:endParaRPr sz="2700" dirty="0">
              <a:latin typeface="Times New Roman"/>
              <a:cs typeface="Times New Roman"/>
            </a:endParaRPr>
          </a:p>
          <a:p>
            <a:pPr marL="12700">
              <a:lnSpc>
                <a:spcPct val="100000"/>
              </a:lnSpc>
            </a:pPr>
            <a:r>
              <a:rPr sz="2200" b="1" dirty="0">
                <a:solidFill>
                  <a:srgbClr val="953734"/>
                </a:solidFill>
                <a:latin typeface="Times New Roman"/>
                <a:cs typeface="Times New Roman"/>
              </a:rPr>
              <a:t>Name</a:t>
            </a:r>
            <a:r>
              <a:rPr sz="2200" b="1" spc="-20" dirty="0">
                <a:solidFill>
                  <a:srgbClr val="953734"/>
                </a:solidFill>
                <a:latin typeface="Times New Roman"/>
                <a:cs typeface="Times New Roman"/>
              </a:rPr>
              <a:t> </a:t>
            </a:r>
            <a:r>
              <a:rPr sz="2200" b="1" dirty="0">
                <a:solidFill>
                  <a:srgbClr val="953734"/>
                </a:solidFill>
                <a:latin typeface="Times New Roman"/>
                <a:cs typeface="Times New Roman"/>
              </a:rPr>
              <a:t>of</a:t>
            </a:r>
            <a:r>
              <a:rPr sz="2200" b="1" spc="-10" dirty="0">
                <a:solidFill>
                  <a:srgbClr val="953734"/>
                </a:solidFill>
                <a:latin typeface="Times New Roman"/>
                <a:cs typeface="Times New Roman"/>
              </a:rPr>
              <a:t> </a:t>
            </a:r>
            <a:r>
              <a:rPr sz="2200" b="1" dirty="0">
                <a:solidFill>
                  <a:srgbClr val="953734"/>
                </a:solidFill>
                <a:latin typeface="Times New Roman"/>
                <a:cs typeface="Times New Roman"/>
              </a:rPr>
              <a:t>the</a:t>
            </a:r>
            <a:r>
              <a:rPr sz="2200" b="1" spc="-5" dirty="0">
                <a:solidFill>
                  <a:srgbClr val="953734"/>
                </a:solidFill>
                <a:latin typeface="Times New Roman"/>
                <a:cs typeface="Times New Roman"/>
              </a:rPr>
              <a:t> </a:t>
            </a:r>
            <a:r>
              <a:rPr sz="2200" b="1" spc="-10" dirty="0">
                <a:solidFill>
                  <a:srgbClr val="953734"/>
                </a:solidFill>
                <a:latin typeface="Times New Roman"/>
                <a:cs typeface="Times New Roman"/>
              </a:rPr>
              <a:t>Guide:Dr.K.Kiruthika</a:t>
            </a:r>
            <a:endParaRPr sz="2200" dirty="0">
              <a:latin typeface="Times New Roman"/>
              <a:cs typeface="Times New Roman"/>
            </a:endParaRPr>
          </a:p>
        </p:txBody>
      </p:sp>
      <p:pic>
        <p:nvPicPr>
          <p:cNvPr id="5" name="object 5"/>
          <p:cNvPicPr/>
          <p:nvPr/>
        </p:nvPicPr>
        <p:blipFill>
          <a:blip r:embed="rId2" cstate="print"/>
          <a:stretch>
            <a:fillRect/>
          </a:stretch>
        </p:blipFill>
        <p:spPr>
          <a:xfrm>
            <a:off x="1785938" y="565150"/>
            <a:ext cx="5572125" cy="819149"/>
          </a:xfrm>
          <a:prstGeom prst="rect">
            <a:avLst/>
          </a:prstGeom>
        </p:spPr>
      </p:pic>
      <p:pic>
        <p:nvPicPr>
          <p:cNvPr id="6" name="object 6"/>
          <p:cNvPicPr/>
          <p:nvPr/>
        </p:nvPicPr>
        <p:blipFill>
          <a:blip r:embed="rId3" cstate="print"/>
          <a:stretch>
            <a:fillRect/>
          </a:stretch>
        </p:blipFill>
        <p:spPr>
          <a:xfrm>
            <a:off x="0" y="0"/>
            <a:ext cx="919162" cy="914399"/>
          </a:xfrm>
          <a:prstGeom prst="rect">
            <a:avLst/>
          </a:prstGeom>
        </p:spPr>
      </p:pic>
      <p:pic>
        <p:nvPicPr>
          <p:cNvPr id="7" name="object 7"/>
          <p:cNvPicPr/>
          <p:nvPr/>
        </p:nvPicPr>
        <p:blipFill>
          <a:blip r:embed="rId4" cstate="print"/>
          <a:stretch>
            <a:fillRect/>
          </a:stretch>
        </p:blipFill>
        <p:spPr>
          <a:xfrm>
            <a:off x="8314000" y="0"/>
            <a:ext cx="698499" cy="885824"/>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a:t>
            </a:fld>
            <a:endParaRPr spc="-25" dirty="0"/>
          </a:p>
        </p:txBody>
      </p:sp>
      <p:sp>
        <p:nvSpPr>
          <p:cNvPr id="10" name="TextBox 9">
            <a:extLst>
              <a:ext uri="{FF2B5EF4-FFF2-40B4-BE49-F238E27FC236}">
                <a16:creationId xmlns:a16="http://schemas.microsoft.com/office/drawing/2014/main" id="{8A42542B-7EEB-4C42-9A71-9B0AE589B884}"/>
              </a:ext>
            </a:extLst>
          </p:cNvPr>
          <p:cNvSpPr txBox="1"/>
          <p:nvPr/>
        </p:nvSpPr>
        <p:spPr>
          <a:xfrm>
            <a:off x="10744200" y="3009900"/>
            <a:ext cx="3124200" cy="838200"/>
          </a:xfrm>
          <a:prstGeom prst="rect">
            <a:avLst/>
          </a:prstGeom>
          <a:noFill/>
        </p:spPr>
        <p:txBody>
          <a:bodyPr wrap="square" rtlCol="0">
            <a:spAutoFit/>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05000" y="209817"/>
            <a:ext cx="4753753" cy="958518"/>
          </a:xfrm>
          <a:prstGeom prst="rect">
            <a:avLst/>
          </a:prstGeom>
        </p:spPr>
        <p:txBody>
          <a:bodyPr vert="horz" wrap="square" lIns="0" tIns="278688" rIns="0" bIns="0" rtlCol="0">
            <a:spAutoFit/>
          </a:bodyPr>
          <a:lstStyle/>
          <a:p>
            <a:pPr marL="1000760">
              <a:lnSpc>
                <a:spcPct val="100000"/>
              </a:lnSpc>
              <a:spcBef>
                <a:spcPts val="100"/>
              </a:spcBef>
            </a:pPr>
            <a:r>
              <a:rPr lang="en-US" altLang="en-US" sz="4400" b="1" dirty="0">
                <a:solidFill>
                  <a:schemeClr val="tx1"/>
                </a:solidFill>
                <a:latin typeface="Times New Roman" panose="02020603050405020304" pitchFamily="18" charset="0"/>
                <a:cs typeface="Times New Roman" panose="02020603050405020304" pitchFamily="18" charset="0"/>
                <a:sym typeface="Times New Roman" panose="02020603050405020304" pitchFamily="18" charset="0"/>
              </a:rPr>
              <a:t>OBJECTIVES </a:t>
            </a:r>
            <a:endParaRPr sz="4400" b="1" dirty="0">
              <a:solidFill>
                <a:schemeClr val="tx1"/>
              </a:solidFill>
            </a:endParaRPr>
          </a:p>
        </p:txBody>
      </p:sp>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sp>
        <p:nvSpPr>
          <p:cNvPr id="8" name="TextBox 7">
            <a:extLst>
              <a:ext uri="{FF2B5EF4-FFF2-40B4-BE49-F238E27FC236}">
                <a16:creationId xmlns:a16="http://schemas.microsoft.com/office/drawing/2014/main" id="{4C8CE988-B17D-BC25-F6F2-08F399E693E1}"/>
              </a:ext>
            </a:extLst>
          </p:cNvPr>
          <p:cNvSpPr txBox="1"/>
          <p:nvPr/>
        </p:nvSpPr>
        <p:spPr>
          <a:xfrm>
            <a:off x="609600" y="1919767"/>
            <a:ext cx="8077199" cy="3384068"/>
          </a:xfrm>
          <a:prstGeom prst="rect">
            <a:avLst/>
          </a:prstGeom>
          <a:noFill/>
        </p:spPr>
        <p:txBody>
          <a:bodyPr wrap="square">
            <a:spAutoFit/>
          </a:bodyPr>
          <a:lstStyle/>
          <a:p>
            <a:pPr marL="247650" indent="-247650" defTabSz="457200" eaLnBrk="1" hangingPunct="1">
              <a:lnSpc>
                <a:spcPct val="120000"/>
              </a:lnSpc>
              <a:buFontTx/>
              <a:buChar char="•"/>
            </a:pP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To design and develop a File Compression System using Huffman Coding in C programming.</a:t>
            </a:r>
          </a:p>
          <a:p>
            <a:pPr marL="247650" indent="-247650" defTabSz="457200" eaLnBrk="1" hangingPunct="1">
              <a:lnSpc>
                <a:spcPct val="120000"/>
              </a:lnSpc>
              <a:buFontTx/>
              <a:buChar char="•"/>
            </a:pP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To implement efficient compression and decompression techniques using Huffman Tree and Min Heap data structures.</a:t>
            </a:r>
          </a:p>
          <a:p>
            <a:pPr marL="247650" indent="-247650" defTabSz="457200" eaLnBrk="1" hangingPunct="1">
              <a:lnSpc>
                <a:spcPct val="120000"/>
              </a:lnSpc>
              <a:buFontTx/>
              <a:buChar char="•"/>
            </a:pP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To reduce the storage space required for text files by applying lossless data compression.</a:t>
            </a:r>
          </a:p>
          <a:p>
            <a:pPr marL="247650" indent="-247650" defTabSz="457200" eaLnBrk="1" hangingPunct="1">
              <a:lnSpc>
                <a:spcPct val="120000"/>
              </a:lnSpc>
              <a:buFontTx/>
              <a:buChar char="•"/>
            </a:pP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To improve data transmission efficiency by decreasing the size of files while preserving the original information.</a:t>
            </a:r>
            <a:b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638300" y="485484"/>
            <a:ext cx="5867399" cy="621965"/>
          </a:xfrm>
          <a:prstGeom prst="rect">
            <a:avLst/>
          </a:prstGeom>
        </p:spPr>
        <p:txBody>
          <a:bodyPr vert="horz" wrap="square" lIns="0" tIns="13970" rIns="0" bIns="0" rtlCol="0">
            <a:spAutoFit/>
          </a:bodyPr>
          <a:lstStyle/>
          <a:p>
            <a:pPr marL="236220">
              <a:lnSpc>
                <a:spcPct val="100000"/>
              </a:lnSpc>
              <a:spcBef>
                <a:spcPts val="110"/>
              </a:spcBef>
            </a:pPr>
            <a:r>
              <a:rPr lang="en-IN" dirty="0">
                <a:solidFill>
                  <a:schemeClr val="tx1"/>
                </a:solidFill>
              </a:rPr>
              <a:t>LITE</a:t>
            </a:r>
            <a:r>
              <a:rPr lang="en-IN" dirty="0">
                <a:solidFill>
                  <a:schemeClr val="tx1"/>
                </a:solidFill>
                <a:latin typeface="Times New Roman"/>
                <a:cs typeface="Times New Roman"/>
              </a:rPr>
              <a:t>R</a:t>
            </a:r>
            <a:r>
              <a:rPr lang="en-IN" dirty="0">
                <a:solidFill>
                  <a:schemeClr val="tx1"/>
                </a:solidFill>
              </a:rPr>
              <a:t>ATURE</a:t>
            </a:r>
            <a:r>
              <a:rPr lang="en-IN" spc="-50" dirty="0">
                <a:solidFill>
                  <a:schemeClr val="tx1"/>
                </a:solidFill>
              </a:rPr>
              <a:t> </a:t>
            </a:r>
            <a:r>
              <a:rPr lang="en-IN" spc="-10" dirty="0">
                <a:solidFill>
                  <a:schemeClr val="tx1"/>
                </a:solidFill>
              </a:rPr>
              <a:t>REVIEW</a:t>
            </a:r>
          </a:p>
        </p:txBody>
      </p:sp>
      <p:pic>
        <p:nvPicPr>
          <p:cNvPr id="4" name="object 4"/>
          <p:cNvPicPr/>
          <p:nvPr/>
        </p:nvPicPr>
        <p:blipFill>
          <a:blip r:embed="rId2" cstate="print"/>
          <a:stretch>
            <a:fillRect/>
          </a:stretch>
        </p:blipFill>
        <p:spPr>
          <a:xfrm>
            <a:off x="0" y="0"/>
            <a:ext cx="919162" cy="914399"/>
          </a:xfrm>
          <a:prstGeom prst="rect">
            <a:avLst/>
          </a:prstGeom>
        </p:spPr>
      </p:pic>
      <p:pic>
        <p:nvPicPr>
          <p:cNvPr id="5" name="object 5"/>
          <p:cNvPicPr/>
          <p:nvPr/>
        </p:nvPicPr>
        <p:blipFill>
          <a:blip r:embed="rId3" cstate="print"/>
          <a:stretch>
            <a:fillRect/>
          </a:stretch>
        </p:blipFill>
        <p:spPr>
          <a:xfrm>
            <a:off x="8305800" y="122238"/>
            <a:ext cx="698499" cy="885824"/>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pic>
        <p:nvPicPr>
          <p:cNvPr id="11" name="Picture 10">
            <a:extLst>
              <a:ext uri="{FF2B5EF4-FFF2-40B4-BE49-F238E27FC236}">
                <a16:creationId xmlns:a16="http://schemas.microsoft.com/office/drawing/2014/main" id="{B8D56D8E-4CB2-32C8-CC8C-CEB04952C9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7804" y="1828800"/>
            <a:ext cx="8915400" cy="36254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754980" y="697079"/>
            <a:ext cx="6169819" cy="621965"/>
          </a:xfrm>
          <a:prstGeom prst="rect">
            <a:avLst/>
          </a:prstGeom>
        </p:spPr>
        <p:txBody>
          <a:bodyPr vert="horz" wrap="square" lIns="0" tIns="13970" rIns="0" bIns="0" rtlCol="0">
            <a:spAutoFit/>
          </a:bodyPr>
          <a:lstStyle/>
          <a:p>
            <a:pPr marL="165735">
              <a:lnSpc>
                <a:spcPct val="100000"/>
              </a:lnSpc>
              <a:spcBef>
                <a:spcPts val="110"/>
              </a:spcBef>
            </a:pPr>
            <a:r>
              <a:rPr lang="en-IN" dirty="0">
                <a:solidFill>
                  <a:schemeClr val="tx1"/>
                </a:solidFill>
              </a:rPr>
              <a:t>PROBLEM</a:t>
            </a:r>
            <a:r>
              <a:rPr lang="en-IN" spc="-35" dirty="0">
                <a:solidFill>
                  <a:schemeClr val="tx1"/>
                </a:solidFill>
              </a:rPr>
              <a:t> </a:t>
            </a:r>
            <a:r>
              <a:rPr lang="en-IN" spc="-10" dirty="0">
                <a:solidFill>
                  <a:schemeClr val="tx1"/>
                </a:solidFill>
              </a:rPr>
              <a:t>STATEMENT</a:t>
            </a:r>
          </a:p>
        </p:txBody>
      </p:sp>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5" name="object 5"/>
          <p:cNvSpPr txBox="1">
            <a:spLocks noGrp="1"/>
          </p:cNvSpPr>
          <p:nvPr>
            <p:ph type="dt" sz="half" idx="6"/>
          </p:nvPr>
        </p:nvSpPr>
        <p:spPr>
          <a:xfrm>
            <a:off x="530225" y="6466776"/>
            <a:ext cx="735965" cy="156068"/>
          </a:xfrm>
          <a:prstGeom prst="rect">
            <a:avLst/>
          </a:prstGeom>
        </p:spPr>
        <p:txBody>
          <a:bodyPr vert="horz" wrap="square" lIns="0" tIns="0" rIns="0" bIns="0" rtlCol="0">
            <a:spAutoFit/>
          </a:bodyPr>
          <a:lstStyle/>
          <a:p>
            <a:pPr marL="12700">
              <a:lnSpc>
                <a:spcPts val="1240"/>
              </a:lnSpc>
            </a:pPr>
            <a:endParaRPr spc="-2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
        <p:nvSpPr>
          <p:cNvPr id="8" name="TextBox 7">
            <a:extLst>
              <a:ext uri="{FF2B5EF4-FFF2-40B4-BE49-F238E27FC236}">
                <a16:creationId xmlns:a16="http://schemas.microsoft.com/office/drawing/2014/main" id="{B6F4EF49-80CC-5448-0394-9FF143AA40B1}"/>
              </a:ext>
            </a:extLst>
          </p:cNvPr>
          <p:cNvSpPr txBox="1"/>
          <p:nvPr/>
        </p:nvSpPr>
        <p:spPr>
          <a:xfrm>
            <a:off x="862779" y="1828800"/>
            <a:ext cx="7788916" cy="4191981"/>
          </a:xfrm>
          <a:prstGeom prst="rect">
            <a:avLst/>
          </a:prstGeom>
          <a:noFill/>
        </p:spPr>
        <p:txBody>
          <a:bodyPr wrap="square">
            <a:spAutoFit/>
          </a:bodyPr>
          <a:lstStyle/>
          <a:p>
            <a:pPr marL="219455" indent="-219455" defTabSz="438911" eaLnBrk="1" fontAlgn="auto" hangingPunct="1">
              <a:lnSpc>
                <a:spcPct val="150000"/>
              </a:lnSpc>
              <a:spcBef>
                <a:spcPts val="0"/>
              </a:spcBef>
              <a:spcAft>
                <a:spcPts val="0"/>
              </a:spcAft>
              <a:buSzPct val="100000"/>
              <a:buFontTx/>
              <a:buChar char="•"/>
              <a:defRPr sz="2304">
                <a:latin typeface="Times New Roman"/>
                <a:ea typeface="Times New Roman"/>
                <a:cs typeface="Times New Roman"/>
                <a:sym typeface="Times New Roman"/>
              </a:defRPr>
            </a:pPr>
            <a:r>
              <a:rPr lang="en-US" sz="2000" dirty="0">
                <a:latin typeface="Times New Roman"/>
                <a:ea typeface="Times New Roman"/>
                <a:cs typeface="Times New Roman"/>
                <a:sym typeface="Times New Roman"/>
              </a:rPr>
              <a:t>Rapid growth of digital data increases storage and transmission challenges.</a:t>
            </a:r>
          </a:p>
          <a:p>
            <a:pPr marL="219455" indent="-219455" defTabSz="438911" eaLnBrk="1" fontAlgn="auto" hangingPunct="1">
              <a:lnSpc>
                <a:spcPct val="150000"/>
              </a:lnSpc>
              <a:spcBef>
                <a:spcPts val="0"/>
              </a:spcBef>
              <a:spcAft>
                <a:spcPts val="0"/>
              </a:spcAft>
              <a:buSzPct val="100000"/>
              <a:buFontTx/>
              <a:buChar char="•"/>
              <a:defRPr sz="2304">
                <a:latin typeface="Times New Roman"/>
                <a:ea typeface="Times New Roman"/>
                <a:cs typeface="Times New Roman"/>
                <a:sym typeface="Times New Roman"/>
              </a:defRPr>
            </a:pPr>
            <a:r>
              <a:rPr lang="en-US" sz="2000" dirty="0">
                <a:latin typeface="Times New Roman"/>
                <a:ea typeface="Times New Roman"/>
                <a:cs typeface="Times New Roman"/>
                <a:sym typeface="Times New Roman"/>
              </a:rPr>
              <a:t>Large files require more disk space and bandwidth.</a:t>
            </a:r>
          </a:p>
          <a:p>
            <a:pPr marL="219455" indent="-219455" defTabSz="438911" eaLnBrk="1" fontAlgn="auto" hangingPunct="1">
              <a:lnSpc>
                <a:spcPct val="150000"/>
              </a:lnSpc>
              <a:spcBef>
                <a:spcPts val="0"/>
              </a:spcBef>
              <a:spcAft>
                <a:spcPts val="0"/>
              </a:spcAft>
              <a:buSzPct val="100000"/>
              <a:buFontTx/>
              <a:buChar char="•"/>
              <a:defRPr sz="2304">
                <a:latin typeface="Times New Roman"/>
                <a:ea typeface="Times New Roman"/>
                <a:cs typeface="Times New Roman"/>
                <a:sym typeface="Times New Roman"/>
              </a:defRPr>
            </a:pPr>
            <a:r>
              <a:rPr lang="en-US" sz="2000" dirty="0">
                <a:latin typeface="Times New Roman"/>
                <a:ea typeface="Times New Roman"/>
                <a:cs typeface="Times New Roman"/>
                <a:sym typeface="Times New Roman"/>
              </a:rPr>
              <a:t>Traditional storage methods lead to higher storage and transfer costs.</a:t>
            </a:r>
          </a:p>
          <a:p>
            <a:pPr marL="219455" indent="-219455" defTabSz="438911" eaLnBrk="1" fontAlgn="auto" hangingPunct="1">
              <a:lnSpc>
                <a:spcPct val="150000"/>
              </a:lnSpc>
              <a:spcBef>
                <a:spcPts val="0"/>
              </a:spcBef>
              <a:spcAft>
                <a:spcPts val="0"/>
              </a:spcAft>
              <a:buSzPct val="100000"/>
              <a:buFontTx/>
              <a:buChar char="•"/>
              <a:defRPr sz="2304">
                <a:latin typeface="Times New Roman"/>
                <a:ea typeface="Times New Roman"/>
                <a:cs typeface="Times New Roman"/>
                <a:sym typeface="Times New Roman"/>
              </a:defRPr>
            </a:pPr>
            <a:r>
              <a:rPr lang="en-US" sz="2000" dirty="0">
                <a:latin typeface="Times New Roman"/>
                <a:ea typeface="Times New Roman"/>
                <a:cs typeface="Times New Roman"/>
                <a:sym typeface="Times New Roman"/>
              </a:rPr>
              <a:t>An efficient lossless compression technique is needed to reduce file size without data loss.</a:t>
            </a:r>
          </a:p>
          <a:p>
            <a:pPr marL="219455" indent="-219455" defTabSz="438911" eaLnBrk="1" fontAlgn="auto" hangingPunct="1">
              <a:lnSpc>
                <a:spcPct val="150000"/>
              </a:lnSpc>
              <a:spcBef>
                <a:spcPts val="0"/>
              </a:spcBef>
              <a:spcAft>
                <a:spcPts val="0"/>
              </a:spcAft>
              <a:buSzPct val="100000"/>
              <a:buFontTx/>
              <a:buChar char="•"/>
              <a:defRPr sz="2304">
                <a:latin typeface="Times New Roman"/>
                <a:ea typeface="Times New Roman"/>
                <a:cs typeface="Times New Roman"/>
                <a:sym typeface="Times New Roman"/>
              </a:defRPr>
            </a:pPr>
            <a:r>
              <a:rPr lang="en-US" sz="2000" dirty="0">
                <a:latin typeface="Times New Roman"/>
                <a:ea typeface="Times New Roman"/>
                <a:cs typeface="Times New Roman"/>
                <a:sym typeface="Times New Roman"/>
              </a:rPr>
              <a:t>This project implements a File Compression System using Huffman Coding in C to compress text files and improve storage and transmission efficiency.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730476" y="697079"/>
            <a:ext cx="5737123" cy="621965"/>
          </a:xfrm>
          <a:prstGeom prst="rect">
            <a:avLst/>
          </a:prstGeom>
        </p:spPr>
        <p:txBody>
          <a:bodyPr vert="horz" wrap="square" lIns="0" tIns="13970" rIns="0" bIns="0" rtlCol="0">
            <a:spAutoFit/>
          </a:bodyPr>
          <a:lstStyle/>
          <a:p>
            <a:pPr marL="12700">
              <a:lnSpc>
                <a:spcPct val="100000"/>
              </a:lnSpc>
              <a:spcBef>
                <a:spcPts val="110"/>
              </a:spcBef>
            </a:pPr>
            <a:r>
              <a:rPr lang="en-IN" dirty="0">
                <a:solidFill>
                  <a:schemeClr val="tx1"/>
                </a:solidFill>
              </a:rPr>
              <a:t>PROPOSED </a:t>
            </a:r>
            <a:r>
              <a:rPr lang="en-IN" spc="-10" dirty="0">
                <a:solidFill>
                  <a:schemeClr val="tx1"/>
                </a:solidFill>
              </a:rPr>
              <a:t>OBJECTIVES</a:t>
            </a:r>
          </a:p>
        </p:txBody>
      </p:sp>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sp>
        <p:nvSpPr>
          <p:cNvPr id="7" name="Rectangle 1">
            <a:extLst>
              <a:ext uri="{FF2B5EF4-FFF2-40B4-BE49-F238E27FC236}">
                <a16:creationId xmlns:a16="http://schemas.microsoft.com/office/drawing/2014/main" id="{C987C6BE-9ED0-1EBD-8D0B-C8C2A36A6A63}"/>
              </a:ext>
            </a:extLst>
          </p:cNvPr>
          <p:cNvSpPr>
            <a:spLocks noChangeArrowheads="1"/>
          </p:cNvSpPr>
          <p:nvPr/>
        </p:nvSpPr>
        <p:spPr bwMode="auto">
          <a:xfrm>
            <a:off x="609600" y="1268479"/>
            <a:ext cx="8001000" cy="4930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efficient file compression system using the Huffman Coding algorithm.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minimize file size while preserving the original data without any loss.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storage utilization and reduce data transmission time.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fast and accurate compression and decompression using Huffman Tree and Min Heap.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the system's performance based on compression ratio, execution time, and space savings.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simple, reliable, and user-friendly solution for text file compression.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692656" y="209817"/>
            <a:ext cx="4966097" cy="958518"/>
          </a:xfrm>
          <a:prstGeom prst="rect">
            <a:avLst/>
          </a:prstGeom>
        </p:spPr>
        <p:txBody>
          <a:bodyPr vert="horz" wrap="square" lIns="0" tIns="278688" rIns="0" bIns="0" rtlCol="0">
            <a:spAutoFit/>
          </a:bodyPr>
          <a:lstStyle/>
          <a:p>
            <a:pPr marL="690245">
              <a:lnSpc>
                <a:spcPct val="100000"/>
              </a:lnSpc>
              <a:spcBef>
                <a:spcPts val="100"/>
              </a:spcBef>
            </a:pPr>
            <a:r>
              <a:rPr lang="en-IN" sz="4400" spc="-10" dirty="0">
                <a:solidFill>
                  <a:schemeClr val="tx1"/>
                </a:solidFill>
              </a:rPr>
              <a:t>ARCHITECTURE</a:t>
            </a:r>
            <a:endParaRPr lang="en-IN" sz="4400" dirty="0">
              <a:solidFill>
                <a:schemeClr val="tx1"/>
              </a:solidFill>
            </a:endParaRPr>
          </a:p>
        </p:txBody>
      </p:sp>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grpSp>
        <p:nvGrpSpPr>
          <p:cNvPr id="7" name="Input File">
            <a:extLst>
              <a:ext uri="{FF2B5EF4-FFF2-40B4-BE49-F238E27FC236}">
                <a16:creationId xmlns:a16="http://schemas.microsoft.com/office/drawing/2014/main" id="{CB2A7B4E-0B61-776C-BF9F-F24D604328AD}"/>
              </a:ext>
            </a:extLst>
          </p:cNvPr>
          <p:cNvGrpSpPr>
            <a:grpSpLocks/>
          </p:cNvGrpSpPr>
          <p:nvPr/>
        </p:nvGrpSpPr>
        <p:grpSpPr bwMode="auto">
          <a:xfrm>
            <a:off x="2090737" y="1449718"/>
            <a:ext cx="4869938" cy="468298"/>
            <a:chOff x="0" y="0"/>
            <a:chExt cx="4962525" cy="474662"/>
          </a:xfrm>
        </p:grpSpPr>
        <p:sp>
          <p:nvSpPr>
            <p:cNvPr id="8" name="Rectangle">
              <a:extLst>
                <a:ext uri="{FF2B5EF4-FFF2-40B4-BE49-F238E27FC236}">
                  <a16:creationId xmlns:a16="http://schemas.microsoft.com/office/drawing/2014/main" id="{3CF0B414-8DEE-4E78-275B-DA7C93ACEF96}"/>
                </a:ext>
              </a:extLst>
            </p:cNvPr>
            <p:cNvSpPr/>
            <p:nvPr/>
          </p:nvSpPr>
          <p:spPr>
            <a:xfrm>
              <a:off x="0" y="0"/>
              <a:ext cx="4962525" cy="474662"/>
            </a:xfrm>
            <a:prstGeom prst="rect">
              <a:avLst/>
            </a:prstGeom>
            <a:solidFill>
              <a:srgbClr val="FFFFFF"/>
            </a:solidFill>
            <a:ln w="25400" cap="flat">
              <a:solidFill>
                <a:schemeClr val="accent1"/>
              </a:solidFill>
              <a:prstDash val="solid"/>
              <a:miter lim="800000"/>
            </a:ln>
            <a:effectLst/>
          </p:spPr>
          <p:txBody>
            <a:bodyPr lIns="45718" tIns="45718" rIns="45718" bIns="45718"/>
            <a:lstStyle/>
            <a:p>
              <a:pPr eaLnBrk="1" fontAlgn="auto">
                <a:spcBef>
                  <a:spcPts val="0"/>
                </a:spcBef>
                <a:spcAft>
                  <a:spcPts val="0"/>
                </a:spcAft>
                <a:defRPr>
                  <a:latin typeface="+mj-lt"/>
                  <a:ea typeface="+mj-ea"/>
                  <a:cs typeface="+mj-cs"/>
                  <a:sym typeface="Helvetica Neue"/>
                </a:defRPr>
              </a:pPr>
              <a:endParaRPr kern="0">
                <a:latin typeface="+mj-lt"/>
                <a:ea typeface="+mj-ea"/>
                <a:cs typeface="+mj-cs"/>
                <a:sym typeface="Helvetica Neue"/>
              </a:endParaRPr>
            </a:p>
          </p:txBody>
        </p:sp>
        <p:sp>
          <p:nvSpPr>
            <p:cNvPr id="9" name="Input File">
              <a:extLst>
                <a:ext uri="{FF2B5EF4-FFF2-40B4-BE49-F238E27FC236}">
                  <a16:creationId xmlns:a16="http://schemas.microsoft.com/office/drawing/2014/main" id="{103D491C-3C70-720B-DD8C-5E555DD5DCF2}"/>
                </a:ext>
              </a:extLst>
            </p:cNvPr>
            <p:cNvSpPr txBox="1">
              <a:spLocks noChangeArrowheads="1"/>
            </p:cNvSpPr>
            <p:nvPr/>
          </p:nvSpPr>
          <p:spPr bwMode="auto">
            <a:xfrm>
              <a:off x="12700" y="12699"/>
              <a:ext cx="4937125" cy="397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p>
              <a:pPr eaLnBrk="1"/>
              <a:r>
                <a:rPr lang="en-US" altLang="en-US" sz="2100" dirty="0">
                  <a:latin typeface="Times New Roman" panose="02020603050405020304" pitchFamily="18" charset="0"/>
                  <a:cs typeface="Times New Roman" panose="02020603050405020304" pitchFamily="18" charset="0"/>
                  <a:sym typeface="Times New Roman" panose="02020603050405020304" pitchFamily="18" charset="0"/>
                </a:rPr>
                <a:t>                          Input File </a:t>
              </a:r>
            </a:p>
          </p:txBody>
        </p:sp>
      </p:grpSp>
      <p:grpSp>
        <p:nvGrpSpPr>
          <p:cNvPr id="10" name="Read File &amp; Extract Character Frequencies">
            <a:extLst>
              <a:ext uri="{FF2B5EF4-FFF2-40B4-BE49-F238E27FC236}">
                <a16:creationId xmlns:a16="http://schemas.microsoft.com/office/drawing/2014/main" id="{BCAAAAAB-003F-0498-F41E-DAD3B67E9A6F}"/>
              </a:ext>
            </a:extLst>
          </p:cNvPr>
          <p:cNvGrpSpPr>
            <a:grpSpLocks/>
          </p:cNvGrpSpPr>
          <p:nvPr/>
        </p:nvGrpSpPr>
        <p:grpSpPr bwMode="auto">
          <a:xfrm>
            <a:off x="2090734" y="2159118"/>
            <a:ext cx="4927600" cy="560388"/>
            <a:chOff x="0" y="0"/>
            <a:chExt cx="4927600" cy="560387"/>
          </a:xfrm>
        </p:grpSpPr>
        <p:sp>
          <p:nvSpPr>
            <p:cNvPr id="11" name="Rectangle">
              <a:extLst>
                <a:ext uri="{FF2B5EF4-FFF2-40B4-BE49-F238E27FC236}">
                  <a16:creationId xmlns:a16="http://schemas.microsoft.com/office/drawing/2014/main" id="{6AD78541-644E-B82E-4502-0EDE21320FB5}"/>
                </a:ext>
              </a:extLst>
            </p:cNvPr>
            <p:cNvSpPr/>
            <p:nvPr/>
          </p:nvSpPr>
          <p:spPr>
            <a:xfrm>
              <a:off x="0" y="0"/>
              <a:ext cx="4927600" cy="560387"/>
            </a:xfrm>
            <a:prstGeom prst="rect">
              <a:avLst/>
            </a:prstGeom>
            <a:solidFill>
              <a:srgbClr val="FFFFFF"/>
            </a:solidFill>
            <a:ln w="25400" cap="flat">
              <a:solidFill>
                <a:schemeClr val="accent1"/>
              </a:solidFill>
              <a:prstDash val="solid"/>
              <a:miter lim="800000"/>
            </a:ln>
            <a:effectLst/>
          </p:spPr>
          <p:txBody>
            <a:bodyPr lIns="45718" tIns="45718" rIns="45718" bIns="45718"/>
            <a:lstStyle/>
            <a:p>
              <a:pPr eaLnBrk="1" fontAlgn="auto">
                <a:spcBef>
                  <a:spcPts val="0"/>
                </a:spcBef>
                <a:spcAft>
                  <a:spcPts val="0"/>
                </a:spcAft>
                <a:defRPr>
                  <a:latin typeface="+mj-lt"/>
                  <a:ea typeface="+mj-ea"/>
                  <a:cs typeface="+mj-cs"/>
                  <a:sym typeface="Helvetica Neue"/>
                </a:defRPr>
              </a:pPr>
              <a:endParaRPr kern="0">
                <a:latin typeface="+mj-lt"/>
                <a:ea typeface="+mj-ea"/>
                <a:cs typeface="+mj-cs"/>
                <a:sym typeface="Helvetica Neue"/>
              </a:endParaRPr>
            </a:p>
          </p:txBody>
        </p:sp>
        <p:sp>
          <p:nvSpPr>
            <p:cNvPr id="12" name="Read File &amp; Extract Character Frequencies">
              <a:extLst>
                <a:ext uri="{FF2B5EF4-FFF2-40B4-BE49-F238E27FC236}">
                  <a16:creationId xmlns:a16="http://schemas.microsoft.com/office/drawing/2014/main" id="{25B7E6FE-D35D-FF42-AF78-DAFC0E99764B}"/>
                </a:ext>
              </a:extLst>
            </p:cNvPr>
            <p:cNvSpPr txBox="1">
              <a:spLocks noChangeArrowheads="1"/>
            </p:cNvSpPr>
            <p:nvPr/>
          </p:nvSpPr>
          <p:spPr bwMode="auto">
            <a:xfrm>
              <a:off x="12700" y="12700"/>
              <a:ext cx="4902200" cy="372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p>
              <a:pPr eaLnBrk="1"/>
              <a:r>
                <a:rPr lang="en-US" altLang="en-US" sz="2000">
                  <a:latin typeface="Times New Roman" panose="02020603050405020304" pitchFamily="18" charset="0"/>
                  <a:cs typeface="Times New Roman" panose="02020603050405020304" pitchFamily="18" charset="0"/>
                  <a:sym typeface="Times New Roman" panose="02020603050405020304" pitchFamily="18" charset="0"/>
                </a:rPr>
                <a:t>      Read File &amp; Extract Character Frequencies</a:t>
              </a:r>
            </a:p>
          </p:txBody>
        </p:sp>
      </p:grpSp>
      <p:grpSp>
        <p:nvGrpSpPr>
          <p:cNvPr id="13" name="Construct Huffman Tree">
            <a:extLst>
              <a:ext uri="{FF2B5EF4-FFF2-40B4-BE49-F238E27FC236}">
                <a16:creationId xmlns:a16="http://schemas.microsoft.com/office/drawing/2014/main" id="{632B7810-E0CB-FF25-5A55-160B50D81C7A}"/>
              </a:ext>
            </a:extLst>
          </p:cNvPr>
          <p:cNvGrpSpPr>
            <a:grpSpLocks/>
          </p:cNvGrpSpPr>
          <p:nvPr/>
        </p:nvGrpSpPr>
        <p:grpSpPr bwMode="auto">
          <a:xfrm>
            <a:off x="2061249" y="2949492"/>
            <a:ext cx="4962525" cy="560387"/>
            <a:chOff x="0" y="0"/>
            <a:chExt cx="4962525" cy="560387"/>
          </a:xfrm>
        </p:grpSpPr>
        <p:sp>
          <p:nvSpPr>
            <p:cNvPr id="14" name="Rectangle">
              <a:extLst>
                <a:ext uri="{FF2B5EF4-FFF2-40B4-BE49-F238E27FC236}">
                  <a16:creationId xmlns:a16="http://schemas.microsoft.com/office/drawing/2014/main" id="{2B1776EC-2F4E-CC8C-376F-98AFD072C9AB}"/>
                </a:ext>
              </a:extLst>
            </p:cNvPr>
            <p:cNvSpPr/>
            <p:nvPr/>
          </p:nvSpPr>
          <p:spPr>
            <a:xfrm>
              <a:off x="0" y="0"/>
              <a:ext cx="4962525" cy="560387"/>
            </a:xfrm>
            <a:prstGeom prst="rect">
              <a:avLst/>
            </a:prstGeom>
            <a:solidFill>
              <a:srgbClr val="FFFFFF"/>
            </a:solidFill>
            <a:ln w="25400" cap="flat">
              <a:solidFill>
                <a:schemeClr val="accent1"/>
              </a:solidFill>
              <a:prstDash val="solid"/>
              <a:miter lim="800000"/>
            </a:ln>
            <a:effectLst/>
          </p:spPr>
          <p:txBody>
            <a:bodyPr lIns="45718" tIns="45718" rIns="45718" bIns="45718"/>
            <a:lstStyle/>
            <a:p>
              <a:pPr eaLnBrk="1" fontAlgn="auto">
                <a:spcBef>
                  <a:spcPts val="0"/>
                </a:spcBef>
                <a:spcAft>
                  <a:spcPts val="0"/>
                </a:spcAft>
                <a:defRPr>
                  <a:latin typeface="+mj-lt"/>
                  <a:ea typeface="+mj-ea"/>
                  <a:cs typeface="+mj-cs"/>
                  <a:sym typeface="Helvetica Neue"/>
                </a:defRPr>
              </a:pPr>
              <a:endParaRPr kern="0">
                <a:latin typeface="+mj-lt"/>
                <a:ea typeface="+mj-ea"/>
                <a:cs typeface="+mj-cs"/>
                <a:sym typeface="Helvetica Neue"/>
              </a:endParaRPr>
            </a:p>
          </p:txBody>
        </p:sp>
        <p:sp>
          <p:nvSpPr>
            <p:cNvPr id="15" name="Construct Huffman Tree">
              <a:extLst>
                <a:ext uri="{FF2B5EF4-FFF2-40B4-BE49-F238E27FC236}">
                  <a16:creationId xmlns:a16="http://schemas.microsoft.com/office/drawing/2014/main" id="{2922B5B8-DC23-7E23-8B4E-9A36EADF5484}"/>
                </a:ext>
              </a:extLst>
            </p:cNvPr>
            <p:cNvSpPr txBox="1">
              <a:spLocks noChangeArrowheads="1"/>
            </p:cNvSpPr>
            <p:nvPr/>
          </p:nvSpPr>
          <p:spPr bwMode="auto">
            <a:xfrm>
              <a:off x="12700" y="12699"/>
              <a:ext cx="4937125" cy="409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p>
              <a:pPr eaLnBrk="1"/>
              <a:r>
                <a:rPr lang="en-US" altLang="en-US" sz="2200">
                  <a:latin typeface="Times New Roman" panose="02020603050405020304" pitchFamily="18" charset="0"/>
                  <a:cs typeface="Times New Roman" panose="02020603050405020304" pitchFamily="18" charset="0"/>
                  <a:sym typeface="Times New Roman" panose="02020603050405020304" pitchFamily="18" charset="0"/>
                </a:rPr>
                <a:t>            Construct Huffman Tree</a:t>
              </a:r>
            </a:p>
          </p:txBody>
        </p:sp>
      </p:grpSp>
      <p:grpSp>
        <p:nvGrpSpPr>
          <p:cNvPr id="16" name="Generate Huffman Codes">
            <a:extLst>
              <a:ext uri="{FF2B5EF4-FFF2-40B4-BE49-F238E27FC236}">
                <a16:creationId xmlns:a16="http://schemas.microsoft.com/office/drawing/2014/main" id="{6AACAA2D-E6D5-0824-58F7-C3F091AAB0CC}"/>
              </a:ext>
            </a:extLst>
          </p:cNvPr>
          <p:cNvGrpSpPr>
            <a:grpSpLocks/>
          </p:cNvGrpSpPr>
          <p:nvPr/>
        </p:nvGrpSpPr>
        <p:grpSpPr bwMode="auto">
          <a:xfrm>
            <a:off x="2062042" y="3735501"/>
            <a:ext cx="4960938" cy="560387"/>
            <a:chOff x="0" y="0"/>
            <a:chExt cx="4960937" cy="560387"/>
          </a:xfrm>
        </p:grpSpPr>
        <p:sp>
          <p:nvSpPr>
            <p:cNvPr id="17" name="Rectangle">
              <a:extLst>
                <a:ext uri="{FF2B5EF4-FFF2-40B4-BE49-F238E27FC236}">
                  <a16:creationId xmlns:a16="http://schemas.microsoft.com/office/drawing/2014/main" id="{7438083F-9A31-5AAE-6046-748E2D2370E0}"/>
                </a:ext>
              </a:extLst>
            </p:cNvPr>
            <p:cNvSpPr/>
            <p:nvPr/>
          </p:nvSpPr>
          <p:spPr>
            <a:xfrm>
              <a:off x="0" y="0"/>
              <a:ext cx="4960937" cy="560387"/>
            </a:xfrm>
            <a:prstGeom prst="rect">
              <a:avLst/>
            </a:prstGeom>
            <a:solidFill>
              <a:srgbClr val="FFFFFF"/>
            </a:solidFill>
            <a:ln w="25400" cap="flat">
              <a:solidFill>
                <a:schemeClr val="accent1"/>
              </a:solidFill>
              <a:prstDash val="solid"/>
              <a:miter lim="800000"/>
            </a:ln>
            <a:effectLst/>
          </p:spPr>
          <p:txBody>
            <a:bodyPr lIns="45718" tIns="45718" rIns="45718" bIns="45718"/>
            <a:lstStyle/>
            <a:p>
              <a:pPr eaLnBrk="1" fontAlgn="auto">
                <a:spcBef>
                  <a:spcPts val="0"/>
                </a:spcBef>
                <a:spcAft>
                  <a:spcPts val="0"/>
                </a:spcAft>
                <a:defRPr>
                  <a:latin typeface="+mj-lt"/>
                  <a:ea typeface="+mj-ea"/>
                  <a:cs typeface="+mj-cs"/>
                  <a:sym typeface="Helvetica Neue"/>
                </a:defRPr>
              </a:pPr>
              <a:endParaRPr kern="0">
                <a:latin typeface="+mj-lt"/>
                <a:ea typeface="+mj-ea"/>
                <a:cs typeface="+mj-cs"/>
                <a:sym typeface="Helvetica Neue"/>
              </a:endParaRPr>
            </a:p>
          </p:txBody>
        </p:sp>
        <p:sp>
          <p:nvSpPr>
            <p:cNvPr id="18" name="Generate Huffman Codes">
              <a:extLst>
                <a:ext uri="{FF2B5EF4-FFF2-40B4-BE49-F238E27FC236}">
                  <a16:creationId xmlns:a16="http://schemas.microsoft.com/office/drawing/2014/main" id="{14A505EF-A7E2-58A7-2661-96D69EB089B5}"/>
                </a:ext>
              </a:extLst>
            </p:cNvPr>
            <p:cNvSpPr txBox="1">
              <a:spLocks noChangeArrowheads="1"/>
            </p:cNvSpPr>
            <p:nvPr/>
          </p:nvSpPr>
          <p:spPr bwMode="auto">
            <a:xfrm>
              <a:off x="12700" y="12699"/>
              <a:ext cx="4935538" cy="397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p>
              <a:pPr eaLnBrk="1"/>
              <a:r>
                <a:rPr lang="en-US" altLang="en-US" sz="2100" dirty="0">
                  <a:latin typeface="Times New Roman" panose="02020603050405020304" pitchFamily="18" charset="0"/>
                  <a:cs typeface="Times New Roman" panose="02020603050405020304" pitchFamily="18" charset="0"/>
                  <a:sym typeface="Times New Roman" panose="02020603050405020304" pitchFamily="18" charset="0"/>
                </a:rPr>
                <a:t>            Generate Huffman Codes </a:t>
              </a:r>
            </a:p>
          </p:txBody>
        </p:sp>
      </p:grpSp>
      <p:grpSp>
        <p:nvGrpSpPr>
          <p:cNvPr id="19" name="Compress File &amp; Store Encoded Data">
            <a:extLst>
              <a:ext uri="{FF2B5EF4-FFF2-40B4-BE49-F238E27FC236}">
                <a16:creationId xmlns:a16="http://schemas.microsoft.com/office/drawing/2014/main" id="{75B9EF9B-CF89-9B3C-62FE-ABAEC3B9244D}"/>
              </a:ext>
            </a:extLst>
          </p:cNvPr>
          <p:cNvGrpSpPr>
            <a:grpSpLocks/>
          </p:cNvGrpSpPr>
          <p:nvPr/>
        </p:nvGrpSpPr>
        <p:grpSpPr bwMode="auto">
          <a:xfrm>
            <a:off x="2045774" y="4513799"/>
            <a:ext cx="4927600" cy="476250"/>
            <a:chOff x="0" y="0"/>
            <a:chExt cx="4927600" cy="476250"/>
          </a:xfrm>
        </p:grpSpPr>
        <p:sp>
          <p:nvSpPr>
            <p:cNvPr id="20" name="Rectangle">
              <a:extLst>
                <a:ext uri="{FF2B5EF4-FFF2-40B4-BE49-F238E27FC236}">
                  <a16:creationId xmlns:a16="http://schemas.microsoft.com/office/drawing/2014/main" id="{3470324F-8752-C5FE-AFCF-71D3876EBE6B}"/>
                </a:ext>
              </a:extLst>
            </p:cNvPr>
            <p:cNvSpPr/>
            <p:nvPr/>
          </p:nvSpPr>
          <p:spPr>
            <a:xfrm>
              <a:off x="0" y="0"/>
              <a:ext cx="4927600" cy="476250"/>
            </a:xfrm>
            <a:prstGeom prst="rect">
              <a:avLst/>
            </a:prstGeom>
            <a:solidFill>
              <a:srgbClr val="FFFFFF"/>
            </a:solidFill>
            <a:ln w="25400" cap="flat">
              <a:solidFill>
                <a:schemeClr val="accent1"/>
              </a:solidFill>
              <a:prstDash val="solid"/>
              <a:miter lim="800000"/>
            </a:ln>
            <a:effectLst/>
          </p:spPr>
          <p:txBody>
            <a:bodyPr lIns="45718" tIns="45718" rIns="45718" bIns="45718"/>
            <a:lstStyle/>
            <a:p>
              <a:pPr eaLnBrk="1" fontAlgn="auto">
                <a:spcBef>
                  <a:spcPts val="0"/>
                </a:spcBef>
                <a:spcAft>
                  <a:spcPts val="0"/>
                </a:spcAft>
                <a:defRPr>
                  <a:latin typeface="+mj-lt"/>
                  <a:ea typeface="+mj-ea"/>
                  <a:cs typeface="+mj-cs"/>
                  <a:sym typeface="Helvetica Neue"/>
                </a:defRPr>
              </a:pPr>
              <a:endParaRPr kern="0">
                <a:latin typeface="+mj-lt"/>
                <a:ea typeface="+mj-ea"/>
                <a:cs typeface="+mj-cs"/>
                <a:sym typeface="Helvetica Neue"/>
              </a:endParaRPr>
            </a:p>
          </p:txBody>
        </p:sp>
        <p:sp>
          <p:nvSpPr>
            <p:cNvPr id="21" name="Compress File &amp; Store Encoded Data">
              <a:extLst>
                <a:ext uri="{FF2B5EF4-FFF2-40B4-BE49-F238E27FC236}">
                  <a16:creationId xmlns:a16="http://schemas.microsoft.com/office/drawing/2014/main" id="{35B7FA21-89A9-ABF9-5663-983E136E175E}"/>
                </a:ext>
              </a:extLst>
            </p:cNvPr>
            <p:cNvSpPr txBox="1">
              <a:spLocks noChangeArrowheads="1"/>
            </p:cNvSpPr>
            <p:nvPr/>
          </p:nvSpPr>
          <p:spPr bwMode="auto">
            <a:xfrm>
              <a:off x="12700" y="12700"/>
              <a:ext cx="4902200" cy="372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p>
              <a:pPr eaLnBrk="1"/>
              <a:r>
                <a:rPr lang="en-US" altLang="en-US" sz="2000">
                  <a:latin typeface="Times New Roman" panose="02020603050405020304" pitchFamily="18" charset="0"/>
                  <a:cs typeface="Times New Roman" panose="02020603050405020304" pitchFamily="18" charset="0"/>
                  <a:sym typeface="Times New Roman" panose="02020603050405020304" pitchFamily="18" charset="0"/>
                </a:rPr>
                <a:t>        Compress File &amp; Store Encoded Data </a:t>
              </a:r>
            </a:p>
          </p:txBody>
        </p:sp>
      </p:grpSp>
      <p:grpSp>
        <p:nvGrpSpPr>
          <p:cNvPr id="22" name="Decompress Using Huffman Tree/Codes">
            <a:extLst>
              <a:ext uri="{FF2B5EF4-FFF2-40B4-BE49-F238E27FC236}">
                <a16:creationId xmlns:a16="http://schemas.microsoft.com/office/drawing/2014/main" id="{25064C3E-B204-7FBC-99BF-33E5817BEC7B}"/>
              </a:ext>
            </a:extLst>
          </p:cNvPr>
          <p:cNvGrpSpPr>
            <a:grpSpLocks/>
          </p:cNvGrpSpPr>
          <p:nvPr/>
        </p:nvGrpSpPr>
        <p:grpSpPr bwMode="auto">
          <a:xfrm>
            <a:off x="2023651" y="5259286"/>
            <a:ext cx="4960937" cy="474662"/>
            <a:chOff x="0" y="0"/>
            <a:chExt cx="4960937" cy="474662"/>
          </a:xfrm>
        </p:grpSpPr>
        <p:sp>
          <p:nvSpPr>
            <p:cNvPr id="23" name="Rectangle">
              <a:extLst>
                <a:ext uri="{FF2B5EF4-FFF2-40B4-BE49-F238E27FC236}">
                  <a16:creationId xmlns:a16="http://schemas.microsoft.com/office/drawing/2014/main" id="{B86385FC-94F6-E3A3-CDAD-9146B4B1F938}"/>
                </a:ext>
              </a:extLst>
            </p:cNvPr>
            <p:cNvSpPr/>
            <p:nvPr/>
          </p:nvSpPr>
          <p:spPr>
            <a:xfrm>
              <a:off x="0" y="0"/>
              <a:ext cx="4960937" cy="474662"/>
            </a:xfrm>
            <a:prstGeom prst="rect">
              <a:avLst/>
            </a:prstGeom>
            <a:solidFill>
              <a:srgbClr val="FFFFFF"/>
            </a:solidFill>
            <a:ln w="25400" cap="flat">
              <a:solidFill>
                <a:schemeClr val="accent1"/>
              </a:solidFill>
              <a:prstDash val="solid"/>
              <a:miter lim="800000"/>
            </a:ln>
            <a:effectLst/>
          </p:spPr>
          <p:txBody>
            <a:bodyPr lIns="45718" tIns="45718" rIns="45718" bIns="45718"/>
            <a:lstStyle/>
            <a:p>
              <a:pPr eaLnBrk="1" fontAlgn="auto">
                <a:spcBef>
                  <a:spcPts val="0"/>
                </a:spcBef>
                <a:spcAft>
                  <a:spcPts val="0"/>
                </a:spcAft>
                <a:defRPr>
                  <a:latin typeface="+mj-lt"/>
                  <a:ea typeface="+mj-ea"/>
                  <a:cs typeface="+mj-cs"/>
                  <a:sym typeface="Helvetica Neue"/>
                </a:defRPr>
              </a:pPr>
              <a:endParaRPr kern="0">
                <a:latin typeface="+mj-lt"/>
                <a:ea typeface="+mj-ea"/>
                <a:cs typeface="+mj-cs"/>
                <a:sym typeface="Helvetica Neue"/>
              </a:endParaRPr>
            </a:p>
          </p:txBody>
        </p:sp>
        <p:sp>
          <p:nvSpPr>
            <p:cNvPr id="24" name="Decompress Using Huffman Tree/Codes">
              <a:extLst>
                <a:ext uri="{FF2B5EF4-FFF2-40B4-BE49-F238E27FC236}">
                  <a16:creationId xmlns:a16="http://schemas.microsoft.com/office/drawing/2014/main" id="{A82CE417-07E5-A41D-2414-7EDAD8F975CF}"/>
                </a:ext>
              </a:extLst>
            </p:cNvPr>
            <p:cNvSpPr txBox="1">
              <a:spLocks noChangeArrowheads="1"/>
            </p:cNvSpPr>
            <p:nvPr/>
          </p:nvSpPr>
          <p:spPr bwMode="auto">
            <a:xfrm>
              <a:off x="12699" y="12699"/>
              <a:ext cx="4935539" cy="372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p>
              <a:pPr eaLnBrk="1"/>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     Decompress Using Huffman Tree/Codes</a:t>
              </a:r>
            </a:p>
          </p:txBody>
        </p:sp>
      </p:grpSp>
      <p:grpSp>
        <p:nvGrpSpPr>
          <p:cNvPr id="25" name="Verify Output &amp; Analyse Compression Performance">
            <a:extLst>
              <a:ext uri="{FF2B5EF4-FFF2-40B4-BE49-F238E27FC236}">
                <a16:creationId xmlns:a16="http://schemas.microsoft.com/office/drawing/2014/main" id="{46595041-D3ED-5D05-1B1F-3C5D69AEC56F}"/>
              </a:ext>
            </a:extLst>
          </p:cNvPr>
          <p:cNvGrpSpPr>
            <a:grpSpLocks/>
          </p:cNvGrpSpPr>
          <p:nvPr/>
        </p:nvGrpSpPr>
        <p:grpSpPr bwMode="auto">
          <a:xfrm>
            <a:off x="1692656" y="5971455"/>
            <a:ext cx="5622925" cy="536575"/>
            <a:chOff x="0" y="0"/>
            <a:chExt cx="5622925" cy="536575"/>
          </a:xfrm>
        </p:grpSpPr>
        <p:sp>
          <p:nvSpPr>
            <p:cNvPr id="26" name="Rectangle">
              <a:extLst>
                <a:ext uri="{FF2B5EF4-FFF2-40B4-BE49-F238E27FC236}">
                  <a16:creationId xmlns:a16="http://schemas.microsoft.com/office/drawing/2014/main" id="{8D2F8250-180A-E899-DFF9-E47F157BF255}"/>
                </a:ext>
              </a:extLst>
            </p:cNvPr>
            <p:cNvSpPr/>
            <p:nvPr/>
          </p:nvSpPr>
          <p:spPr>
            <a:xfrm>
              <a:off x="0" y="0"/>
              <a:ext cx="5622925" cy="536575"/>
            </a:xfrm>
            <a:prstGeom prst="rect">
              <a:avLst/>
            </a:prstGeom>
            <a:solidFill>
              <a:srgbClr val="FFFFFF"/>
            </a:solidFill>
            <a:ln w="25400" cap="flat">
              <a:solidFill>
                <a:schemeClr val="accent1"/>
              </a:solidFill>
              <a:prstDash val="solid"/>
              <a:miter lim="800000"/>
            </a:ln>
            <a:effectLst/>
          </p:spPr>
          <p:txBody>
            <a:bodyPr lIns="45718" tIns="45718" rIns="45718" bIns="45718"/>
            <a:lstStyle/>
            <a:p>
              <a:pPr eaLnBrk="1" fontAlgn="auto">
                <a:spcBef>
                  <a:spcPts val="0"/>
                </a:spcBef>
                <a:spcAft>
                  <a:spcPts val="0"/>
                </a:spcAft>
                <a:defRPr>
                  <a:latin typeface="+mj-lt"/>
                  <a:ea typeface="+mj-ea"/>
                  <a:cs typeface="+mj-cs"/>
                  <a:sym typeface="Helvetica Neue"/>
                </a:defRPr>
              </a:pPr>
              <a:endParaRPr kern="0">
                <a:latin typeface="+mj-lt"/>
                <a:ea typeface="+mj-ea"/>
                <a:cs typeface="+mj-cs"/>
                <a:sym typeface="Helvetica Neue"/>
              </a:endParaRPr>
            </a:p>
          </p:txBody>
        </p:sp>
        <p:sp>
          <p:nvSpPr>
            <p:cNvPr id="27" name="Verify Output &amp; Analyse Compression Performance">
              <a:extLst>
                <a:ext uri="{FF2B5EF4-FFF2-40B4-BE49-F238E27FC236}">
                  <a16:creationId xmlns:a16="http://schemas.microsoft.com/office/drawing/2014/main" id="{601833CF-08EE-F48A-63B3-6E353692452A}"/>
                </a:ext>
              </a:extLst>
            </p:cNvPr>
            <p:cNvSpPr txBox="1">
              <a:spLocks noChangeArrowheads="1"/>
            </p:cNvSpPr>
            <p:nvPr/>
          </p:nvSpPr>
          <p:spPr bwMode="auto">
            <a:xfrm>
              <a:off x="12700" y="12700"/>
              <a:ext cx="5597525" cy="36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p>
              <a:pPr eaLnBrk="1"/>
              <a:r>
                <a:rPr lang="en-US" altLang="en-US" sz="1900" dirty="0">
                  <a:latin typeface="Times New Roman" panose="02020603050405020304" pitchFamily="18" charset="0"/>
                  <a:cs typeface="Times New Roman" panose="02020603050405020304" pitchFamily="18" charset="0"/>
                  <a:sym typeface="Times New Roman" panose="02020603050405020304" pitchFamily="18" charset="0"/>
                </a:rPr>
                <a:t>    Verify Output &amp; </a:t>
              </a:r>
              <a:r>
                <a:rPr lang="en-US" altLang="en-US" sz="1900" dirty="0" err="1">
                  <a:latin typeface="Times New Roman" panose="02020603050405020304" pitchFamily="18" charset="0"/>
                  <a:cs typeface="Times New Roman" panose="02020603050405020304" pitchFamily="18" charset="0"/>
                  <a:sym typeface="Times New Roman" panose="02020603050405020304" pitchFamily="18" charset="0"/>
                </a:rPr>
                <a:t>Analyse</a:t>
              </a:r>
              <a:r>
                <a:rPr lang="en-US" altLang="en-US" sz="1900" dirty="0">
                  <a:latin typeface="Times New Roman" panose="02020603050405020304" pitchFamily="18" charset="0"/>
                  <a:cs typeface="Times New Roman" panose="02020603050405020304" pitchFamily="18" charset="0"/>
                  <a:sym typeface="Times New Roman" panose="02020603050405020304" pitchFamily="18" charset="0"/>
                </a:rPr>
                <a:t> Compression Performance </a:t>
              </a:r>
            </a:p>
          </p:txBody>
        </p:sp>
      </p:grpSp>
      <p:sp>
        <p:nvSpPr>
          <p:cNvPr id="29" name="TextBox 28">
            <a:extLst>
              <a:ext uri="{FF2B5EF4-FFF2-40B4-BE49-F238E27FC236}">
                <a16:creationId xmlns:a16="http://schemas.microsoft.com/office/drawing/2014/main" id="{8284E7DE-A82E-6F93-4AA2-DD3275AC819F}"/>
              </a:ext>
            </a:extLst>
          </p:cNvPr>
          <p:cNvSpPr txBox="1"/>
          <p:nvPr/>
        </p:nvSpPr>
        <p:spPr>
          <a:xfrm>
            <a:off x="4267200" y="1801394"/>
            <a:ext cx="4572000" cy="369332"/>
          </a:xfrm>
          <a:prstGeom prst="rect">
            <a:avLst/>
          </a:prstGeom>
          <a:noFill/>
        </p:spPr>
        <p:txBody>
          <a:bodyPr wrap="square">
            <a:spAutoFit/>
          </a:bodyPr>
          <a:lstStyle/>
          <a:p>
            <a:r>
              <a:rPr lang="en-US" altLang="en-US" dirty="0">
                <a:latin typeface="Helvetica Neue"/>
                <a:ea typeface="Helvetica Neue"/>
                <a:cs typeface="Helvetica Neue"/>
                <a:sym typeface="Helvetica Neue"/>
              </a:rPr>
              <a:t>↓</a:t>
            </a:r>
            <a:endParaRPr lang="en-IN" dirty="0"/>
          </a:p>
        </p:txBody>
      </p:sp>
      <p:sp>
        <p:nvSpPr>
          <p:cNvPr id="31" name="TextBox 30">
            <a:extLst>
              <a:ext uri="{FF2B5EF4-FFF2-40B4-BE49-F238E27FC236}">
                <a16:creationId xmlns:a16="http://schemas.microsoft.com/office/drawing/2014/main" id="{6B391DFC-DCD7-16FE-2F3C-2E596F83B063}"/>
              </a:ext>
            </a:extLst>
          </p:cNvPr>
          <p:cNvSpPr txBox="1"/>
          <p:nvPr/>
        </p:nvSpPr>
        <p:spPr>
          <a:xfrm>
            <a:off x="4267200" y="2610515"/>
            <a:ext cx="4572000" cy="369332"/>
          </a:xfrm>
          <a:prstGeom prst="rect">
            <a:avLst/>
          </a:prstGeom>
          <a:noFill/>
        </p:spPr>
        <p:txBody>
          <a:bodyPr wrap="square">
            <a:spAutoFit/>
          </a:bodyPr>
          <a:lstStyle/>
          <a:p>
            <a:r>
              <a:rPr lang="en-US" altLang="en-US">
                <a:latin typeface="Helvetica Neue"/>
                <a:ea typeface="Helvetica Neue"/>
                <a:cs typeface="Helvetica Neue"/>
                <a:sym typeface="Helvetica Neue"/>
              </a:rPr>
              <a:t>↓</a:t>
            </a:r>
            <a:endParaRPr lang="en-IN" dirty="0"/>
          </a:p>
        </p:txBody>
      </p:sp>
      <p:sp>
        <p:nvSpPr>
          <p:cNvPr id="33" name="TextBox 32">
            <a:extLst>
              <a:ext uri="{FF2B5EF4-FFF2-40B4-BE49-F238E27FC236}">
                <a16:creationId xmlns:a16="http://schemas.microsoft.com/office/drawing/2014/main" id="{5257C3D7-4243-6B7D-9148-9AA6CC96E01A}"/>
              </a:ext>
            </a:extLst>
          </p:cNvPr>
          <p:cNvSpPr txBox="1"/>
          <p:nvPr/>
        </p:nvSpPr>
        <p:spPr>
          <a:xfrm>
            <a:off x="4274716" y="3424800"/>
            <a:ext cx="4572000" cy="369332"/>
          </a:xfrm>
          <a:prstGeom prst="rect">
            <a:avLst/>
          </a:prstGeom>
          <a:noFill/>
        </p:spPr>
        <p:txBody>
          <a:bodyPr wrap="square">
            <a:spAutoFit/>
          </a:bodyPr>
          <a:lstStyle/>
          <a:p>
            <a:r>
              <a:rPr lang="en-US" altLang="en-US">
                <a:latin typeface="Helvetica Neue"/>
                <a:ea typeface="Helvetica Neue"/>
                <a:cs typeface="Helvetica Neue"/>
                <a:sym typeface="Helvetica Neue"/>
              </a:rPr>
              <a:t>↓</a:t>
            </a:r>
            <a:endParaRPr lang="en-IN" dirty="0"/>
          </a:p>
        </p:txBody>
      </p:sp>
      <p:sp>
        <p:nvSpPr>
          <p:cNvPr id="35" name="TextBox 34">
            <a:extLst>
              <a:ext uri="{FF2B5EF4-FFF2-40B4-BE49-F238E27FC236}">
                <a16:creationId xmlns:a16="http://schemas.microsoft.com/office/drawing/2014/main" id="{B11BBD2B-0912-F8CD-2A8E-861C4BAF49F2}"/>
              </a:ext>
            </a:extLst>
          </p:cNvPr>
          <p:cNvSpPr txBox="1"/>
          <p:nvPr/>
        </p:nvSpPr>
        <p:spPr>
          <a:xfrm>
            <a:off x="4274716" y="4172023"/>
            <a:ext cx="4572000" cy="369332"/>
          </a:xfrm>
          <a:prstGeom prst="rect">
            <a:avLst/>
          </a:prstGeom>
          <a:noFill/>
        </p:spPr>
        <p:txBody>
          <a:bodyPr wrap="square">
            <a:spAutoFit/>
          </a:bodyPr>
          <a:lstStyle/>
          <a:p>
            <a:r>
              <a:rPr lang="en-US" altLang="en-US" dirty="0">
                <a:latin typeface="Helvetica Neue"/>
                <a:ea typeface="Helvetica Neue"/>
                <a:cs typeface="Helvetica Neue"/>
                <a:sym typeface="Helvetica Neue"/>
              </a:rPr>
              <a:t>↓</a:t>
            </a:r>
            <a:endParaRPr lang="en-IN" dirty="0"/>
          </a:p>
        </p:txBody>
      </p:sp>
      <p:sp>
        <p:nvSpPr>
          <p:cNvPr id="37" name="TextBox 36">
            <a:extLst>
              <a:ext uri="{FF2B5EF4-FFF2-40B4-BE49-F238E27FC236}">
                <a16:creationId xmlns:a16="http://schemas.microsoft.com/office/drawing/2014/main" id="{9055155E-50F4-6C78-8432-4C9D3CC83705}"/>
              </a:ext>
            </a:extLst>
          </p:cNvPr>
          <p:cNvSpPr txBox="1"/>
          <p:nvPr/>
        </p:nvSpPr>
        <p:spPr>
          <a:xfrm>
            <a:off x="4279632" y="4928048"/>
            <a:ext cx="4572000" cy="369332"/>
          </a:xfrm>
          <a:prstGeom prst="rect">
            <a:avLst/>
          </a:prstGeom>
          <a:noFill/>
        </p:spPr>
        <p:txBody>
          <a:bodyPr wrap="square">
            <a:spAutoFit/>
          </a:bodyPr>
          <a:lstStyle/>
          <a:p>
            <a:r>
              <a:rPr lang="en-US" altLang="en-US" dirty="0">
                <a:latin typeface="Helvetica Neue"/>
                <a:ea typeface="Helvetica Neue"/>
                <a:cs typeface="Helvetica Neue"/>
                <a:sym typeface="Helvetica Neue"/>
              </a:rPr>
              <a:t>↓</a:t>
            </a:r>
            <a:endParaRPr lang="en-IN" dirty="0"/>
          </a:p>
        </p:txBody>
      </p:sp>
      <p:sp>
        <p:nvSpPr>
          <p:cNvPr id="39" name="TextBox 38">
            <a:extLst>
              <a:ext uri="{FF2B5EF4-FFF2-40B4-BE49-F238E27FC236}">
                <a16:creationId xmlns:a16="http://schemas.microsoft.com/office/drawing/2014/main" id="{098964B9-13D8-9DE9-2CA7-9F05DB98DD94}"/>
              </a:ext>
            </a:extLst>
          </p:cNvPr>
          <p:cNvSpPr txBox="1"/>
          <p:nvPr/>
        </p:nvSpPr>
        <p:spPr>
          <a:xfrm>
            <a:off x="4267200" y="5617266"/>
            <a:ext cx="4572000" cy="369332"/>
          </a:xfrm>
          <a:prstGeom prst="rect">
            <a:avLst/>
          </a:prstGeom>
          <a:noFill/>
        </p:spPr>
        <p:txBody>
          <a:bodyPr wrap="square">
            <a:spAutoFit/>
          </a:bodyPr>
          <a:lstStyle/>
          <a:p>
            <a:r>
              <a:rPr lang="en-US" altLang="en-US" dirty="0">
                <a:latin typeface="Helvetica Neue"/>
                <a:ea typeface="Helvetica Neue"/>
                <a:cs typeface="Helvetica Neue"/>
                <a:sym typeface="Helvetica Neue"/>
              </a:rPr>
              <a:t>↓</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05000" y="420656"/>
            <a:ext cx="4677553" cy="896963"/>
          </a:xfrm>
          <a:prstGeom prst="rect">
            <a:avLst/>
          </a:prstGeom>
        </p:spPr>
        <p:txBody>
          <a:bodyPr vert="horz" wrap="square" lIns="0" tIns="278688" rIns="0" bIns="0" rtlCol="0">
            <a:spAutoFit/>
          </a:bodyPr>
          <a:lstStyle/>
          <a:p>
            <a:pPr marL="581025">
              <a:lnSpc>
                <a:spcPct val="100000"/>
              </a:lnSpc>
              <a:spcBef>
                <a:spcPts val="100"/>
              </a:spcBef>
            </a:pPr>
            <a:r>
              <a:rPr lang="en-IN" sz="4000" spc="-10" dirty="0">
                <a:solidFill>
                  <a:schemeClr val="tx1"/>
                </a:solidFill>
              </a:rPr>
              <a:t>METHODOLOGY</a:t>
            </a:r>
            <a:endParaRPr lang="en-IN" sz="4000" dirty="0">
              <a:solidFill>
                <a:schemeClr val="tx1"/>
              </a:solidFill>
            </a:endParaRPr>
          </a:p>
        </p:txBody>
      </p:sp>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
        <p:nvSpPr>
          <p:cNvPr id="7" name="Rectangle 1">
            <a:extLst>
              <a:ext uri="{FF2B5EF4-FFF2-40B4-BE49-F238E27FC236}">
                <a16:creationId xmlns:a16="http://schemas.microsoft.com/office/drawing/2014/main" id="{C9DE67E0-6979-1C3F-9565-8EA89A494CC9}"/>
              </a:ext>
            </a:extLst>
          </p:cNvPr>
          <p:cNvSpPr>
            <a:spLocks noChangeArrowheads="1"/>
          </p:cNvSpPr>
          <p:nvPr/>
        </p:nvSpPr>
        <p:spPr bwMode="auto">
          <a:xfrm rot="10800000" flipV="1">
            <a:off x="559722" y="1677967"/>
            <a:ext cx="8232774"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2" algn="l" rtl="0" eaLnBrk="0" fontAlgn="base" hangingPunct="0">
              <a:lnSpc>
                <a:spcPct val="15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File Selection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Read the text file to be compressed. </a:t>
            </a:r>
          </a:p>
          <a:p>
            <a:pPr lvl="2" algn="l" rtl="0" eaLnBrk="0" fontAlgn="base" hangingPunct="0">
              <a:lnSpc>
                <a:spcPct val="15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Frequency Analysis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Count the frequency of each character in the file. </a:t>
            </a:r>
          </a:p>
          <a:p>
            <a:pPr lvl="2" algn="l" rtl="0" eaLnBrk="0" fontAlgn="base" hangingPunct="0">
              <a:lnSpc>
                <a:spcPct val="15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 Heap Construction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Create a Min Heap using the character frequencies. </a:t>
            </a:r>
          </a:p>
          <a:p>
            <a:pPr lvl="2" algn="l" rtl="0" eaLnBrk="0" fontAlgn="base" hangingPunct="0">
              <a:lnSpc>
                <a:spcPct val="15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Huffman Tree Generation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Build the Huffman Tree by combining nodes with the lowest frequencies. </a:t>
            </a:r>
          </a:p>
          <a:p>
            <a:pPr lvl="2" algn="l" rtl="0" eaLnBrk="0" fontAlgn="base" hangingPunct="0">
              <a:lnSpc>
                <a:spcPct val="15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Assignment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Generate unique binary Huffman codes for each character. </a:t>
            </a:r>
          </a:p>
          <a:p>
            <a:pPr lvl="2" algn="l" rtl="0" eaLnBrk="0" fontAlgn="base" hangingPunct="0">
              <a:lnSpc>
                <a:spcPct val="15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Compression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Replace characters with their Huffman codes and store the compressed data. </a:t>
            </a:r>
          </a:p>
          <a:p>
            <a:pPr lvl="2" algn="l" rtl="0" eaLnBrk="0" fontAlgn="base" hangingPunct="0">
              <a:lnSpc>
                <a:spcPct val="15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Decompression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Decode the compressed data using the Huffman Tree to restore the original file.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9163" y="475805"/>
            <a:ext cx="7234238" cy="997709"/>
          </a:xfrm>
          <a:prstGeom prst="rect">
            <a:avLst/>
          </a:prstGeom>
        </p:spPr>
        <p:txBody>
          <a:bodyPr vert="horz" wrap="square" lIns="0" tIns="12700" rIns="0" bIns="0" rtlCol="0">
            <a:spAutoFit/>
          </a:bodyPr>
          <a:lstStyle/>
          <a:p>
            <a:pPr marL="12700" algn="ctr">
              <a:lnSpc>
                <a:spcPct val="100000"/>
              </a:lnSpc>
              <a:spcBef>
                <a:spcPts val="100"/>
              </a:spcBef>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Module 1: Input File Processing and Huffman tree construction</a:t>
            </a:r>
            <a:endParaRPr sz="3200" b="1" dirty="0">
              <a:latin typeface="Times New Roman"/>
              <a:cs typeface="Times New Roman"/>
            </a:endParaRPr>
          </a:p>
        </p:txBody>
      </p:sp>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5" name="object 5"/>
          <p:cNvSpPr txBox="1">
            <a:spLocks noGrp="1"/>
          </p:cNvSpPr>
          <p:nvPr>
            <p:ph type="dt" sz="half" idx="6"/>
          </p:nvPr>
        </p:nvSpPr>
        <p:spPr>
          <a:xfrm>
            <a:off x="530225" y="6466776"/>
            <a:ext cx="735965" cy="156068"/>
          </a:xfrm>
          <a:prstGeom prst="rect">
            <a:avLst/>
          </a:prstGeom>
        </p:spPr>
        <p:txBody>
          <a:bodyPr vert="horz" wrap="square" lIns="0" tIns="0" rIns="0" bIns="0" rtlCol="0">
            <a:spAutoFit/>
          </a:bodyPr>
          <a:lstStyle/>
          <a:p>
            <a:pPr marL="12700">
              <a:lnSpc>
                <a:spcPts val="1240"/>
              </a:lnSpc>
            </a:pPr>
            <a:endParaRPr spc="-2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sp>
        <p:nvSpPr>
          <p:cNvPr id="8" name="TextBox 7">
            <a:extLst>
              <a:ext uri="{FF2B5EF4-FFF2-40B4-BE49-F238E27FC236}">
                <a16:creationId xmlns:a16="http://schemas.microsoft.com/office/drawing/2014/main" id="{7B9A110D-BF01-5535-195B-FBD368FD2BD6}"/>
              </a:ext>
            </a:extLst>
          </p:cNvPr>
          <p:cNvSpPr txBox="1"/>
          <p:nvPr/>
        </p:nvSpPr>
        <p:spPr>
          <a:xfrm>
            <a:off x="228601" y="1659769"/>
            <a:ext cx="4953000" cy="4574266"/>
          </a:xfrm>
          <a:prstGeom prst="rect">
            <a:avLst/>
          </a:prstGeom>
          <a:noFill/>
        </p:spPr>
        <p:txBody>
          <a:bodyPr wrap="square">
            <a:spAutoFit/>
          </a:bodyPr>
          <a:lstStyle/>
          <a:p>
            <a:pPr defTabSz="457200" eaLnBrk="1" hangingPunct="1">
              <a:spcBef>
                <a:spcPts val="1500"/>
              </a:spcBef>
            </a:pPr>
            <a:r>
              <a:rPr lang="en-US" altLang="en-US" sz="1800" b="1" dirty="0">
                <a:latin typeface="Times New Roman" panose="02020603050405020304" pitchFamily="18" charset="0"/>
                <a:cs typeface="Times New Roman" panose="02020603050405020304" pitchFamily="18" charset="0"/>
                <a:sym typeface="Times New Roman" panose="02020603050405020304" pitchFamily="18" charset="0"/>
              </a:rPr>
              <a:t>Objective:</a:t>
            </a:r>
          </a:p>
          <a:p>
            <a:pPr defTabSz="457200" eaLnBrk="1" hangingPunct="1">
              <a:spcBef>
                <a:spcPts val="1200"/>
              </a:spcBef>
              <a:buFontTx/>
              <a:buChar char="•"/>
            </a:pPr>
            <a:r>
              <a:rPr lang="en-US" altLang="en-US" sz="1600" dirty="0">
                <a:latin typeface="Times New Roman" panose="02020603050405020304" pitchFamily="18" charset="0"/>
                <a:cs typeface="Times New Roman" panose="02020603050405020304" pitchFamily="18" charset="0"/>
                <a:sym typeface="Times New Roman" panose="02020603050405020304" pitchFamily="18" charset="0"/>
              </a:rPr>
              <a:t> </a:t>
            </a:r>
            <a:r>
              <a:rPr lang="en-US" dirty="0"/>
              <a:t>To read the input file, calculate character frequencies, and construct the Huffman Tree.</a:t>
            </a:r>
          </a:p>
          <a:p>
            <a:pPr defTabSz="457200" eaLnBrk="1" hangingPunct="1">
              <a:spcBef>
                <a:spcPts val="1200"/>
              </a:spcBef>
              <a:buFontTx/>
              <a:buChar char="•"/>
            </a:pPr>
            <a:endParaRPr lang="en-US" altLang="en-US" dirty="0">
              <a:latin typeface="Times New Roman" panose="02020603050405020304" pitchFamily="18" charset="0"/>
              <a:cs typeface="Times New Roman" panose="02020603050405020304" pitchFamily="18" charset="0"/>
              <a:sym typeface="Times New Roman" panose="02020603050405020304" pitchFamily="18" charset="0"/>
            </a:endParaRPr>
          </a:p>
          <a:p>
            <a:pPr defTabSz="457200" eaLnBrk="1" hangingPunct="1">
              <a:spcBef>
                <a:spcPts val="1500"/>
              </a:spcBef>
            </a:pPr>
            <a:r>
              <a:rPr lang="en-US" altLang="en-US" sz="1800" b="1" dirty="0">
                <a:latin typeface="Times New Roman" panose="02020603050405020304" pitchFamily="18" charset="0"/>
                <a:cs typeface="Times New Roman" panose="02020603050405020304" pitchFamily="18" charset="0"/>
                <a:sym typeface="Times New Roman" panose="02020603050405020304" pitchFamily="18" charset="0"/>
              </a:rPr>
              <a:t>Description</a:t>
            </a:r>
          </a:p>
          <a:p>
            <a:pPr algn="l" defTabSz="457200" eaLnBrk="1" hangingPunct="1">
              <a:lnSpc>
                <a:spcPct val="150000"/>
              </a:lnSpc>
              <a:spcBef>
                <a:spcPts val="1200"/>
              </a:spcBef>
              <a:buFontTx/>
              <a:buChar char="•"/>
            </a:pPr>
            <a:r>
              <a:rPr lang="en-US" dirty="0"/>
              <a:t>This module reads the input text file and calculates the frequency of each character. Using the frequency table, a Min Heap is created and the Huffman Tree is constructed, which forms the basis for generating optimal Huffman codes.</a:t>
            </a:r>
            <a:endParaRPr lang="en-US" altLang="en-US" sz="18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sp>
        <p:nvSpPr>
          <p:cNvPr id="8" name="TextBox 7">
            <a:extLst>
              <a:ext uri="{FF2B5EF4-FFF2-40B4-BE49-F238E27FC236}">
                <a16:creationId xmlns:a16="http://schemas.microsoft.com/office/drawing/2014/main" id="{7B9A110D-BF01-5535-195B-FBD368FD2BD6}"/>
              </a:ext>
            </a:extLst>
          </p:cNvPr>
          <p:cNvSpPr txBox="1"/>
          <p:nvPr/>
        </p:nvSpPr>
        <p:spPr>
          <a:xfrm>
            <a:off x="228601" y="1659769"/>
            <a:ext cx="4953000" cy="3685624"/>
          </a:xfrm>
          <a:prstGeom prst="rect">
            <a:avLst/>
          </a:prstGeom>
          <a:noFill/>
        </p:spPr>
        <p:txBody>
          <a:bodyPr wrap="square">
            <a:spAutoFit/>
          </a:bodyPr>
          <a:lstStyle/>
          <a:p>
            <a:pPr defTabSz="457200" eaLnBrk="1" hangingPunct="1">
              <a:spcBef>
                <a:spcPts val="1500"/>
              </a:spcBef>
            </a:pPr>
            <a: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t>Input :</a:t>
            </a:r>
            <a:b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br>
            <a:r>
              <a:rPr lang="en-US" dirty="0"/>
              <a:t>Text file containing data to be compressed</a:t>
            </a:r>
            <a:endParaRPr lang="en-US" altLang="en-US" dirty="0">
              <a:latin typeface="Times New Roman" panose="02020603050405020304" pitchFamily="18" charset="0"/>
              <a:cs typeface="Times New Roman" panose="02020603050405020304" pitchFamily="18" charset="0"/>
              <a:sym typeface="Times New Roman" panose="02020603050405020304" pitchFamily="18" charset="0"/>
            </a:endParaRPr>
          </a:p>
          <a:p>
            <a:pPr defTabSz="457200">
              <a:spcBef>
                <a:spcPts val="1500"/>
              </a:spcBef>
            </a:pP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t>Output :</a:t>
            </a:r>
            <a:b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br>
            <a:r>
              <a:rPr lang="en-US" dirty="0"/>
              <a:t>Character frequency table and Huffman Tree.</a:t>
            </a:r>
          </a:p>
          <a:p>
            <a:pPr defTabSz="457200">
              <a:spcBef>
                <a:spcPts val="1500"/>
              </a:spcBef>
            </a:pPr>
            <a:br>
              <a:rPr lang="en-US" altLang="en-US" sz="1800"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t>Expected Result :</a:t>
            </a:r>
            <a:b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br>
            <a:r>
              <a:rPr lang="en-US" dirty="0"/>
              <a:t>A Huffman Tree is successfully generated from the input file, enabling efficient Huffman code generation for file compression.</a:t>
            </a:r>
          </a:p>
          <a:p>
            <a:pPr defTabSz="457200" eaLnBrk="1" hangingPunct="1">
              <a:spcBef>
                <a:spcPts val="1500"/>
              </a:spcBef>
            </a:pPr>
            <a:endParaRPr lang="en-US" altLang="en-US" sz="18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4256329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9163" y="475805"/>
            <a:ext cx="7234238" cy="997709"/>
          </a:xfrm>
          <a:prstGeom prst="rect">
            <a:avLst/>
          </a:prstGeom>
        </p:spPr>
        <p:txBody>
          <a:bodyPr vert="horz" wrap="square" lIns="0" tIns="12700" rIns="0" bIns="0" rtlCol="0">
            <a:spAutoFit/>
          </a:bodyPr>
          <a:lstStyle/>
          <a:p>
            <a:pPr marL="12700" algn="ctr">
              <a:lnSpc>
                <a:spcPct val="100000"/>
              </a:lnSpc>
              <a:spcBef>
                <a:spcPts val="100"/>
              </a:spcBef>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Module 2:</a:t>
            </a:r>
            <a:r>
              <a:rPr lang="en-IN" sz="3200" b="1" dirty="0"/>
              <a:t>Huffman Code Generation, Compression &amp; Decompression</a:t>
            </a:r>
            <a:endParaRPr sz="3200" b="1" dirty="0">
              <a:latin typeface="Times New Roman"/>
              <a:cs typeface="Times New Roman"/>
            </a:endParaRPr>
          </a:p>
        </p:txBody>
      </p:sp>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
        <p:nvSpPr>
          <p:cNvPr id="8" name="TextBox 7">
            <a:extLst>
              <a:ext uri="{FF2B5EF4-FFF2-40B4-BE49-F238E27FC236}">
                <a16:creationId xmlns:a16="http://schemas.microsoft.com/office/drawing/2014/main" id="{7B9A110D-BF01-5535-195B-FBD368FD2BD6}"/>
              </a:ext>
            </a:extLst>
          </p:cNvPr>
          <p:cNvSpPr txBox="1"/>
          <p:nvPr/>
        </p:nvSpPr>
        <p:spPr>
          <a:xfrm>
            <a:off x="422710" y="2057400"/>
            <a:ext cx="4876799" cy="3462486"/>
          </a:xfrm>
          <a:prstGeom prst="rect">
            <a:avLst/>
          </a:prstGeom>
          <a:noFill/>
        </p:spPr>
        <p:txBody>
          <a:bodyPr wrap="square">
            <a:spAutoFit/>
          </a:bodyPr>
          <a:lstStyle/>
          <a:p>
            <a:pPr defTabSz="457200" eaLnBrk="1" hangingPunct="1">
              <a:spcBef>
                <a:spcPts val="1500"/>
              </a:spcBef>
            </a:pP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Objective:</a:t>
            </a:r>
          </a:p>
          <a:p>
            <a:pPr defTabSz="457200" eaLnBrk="1" hangingPunct="1">
              <a:spcBef>
                <a:spcPts val="1200"/>
              </a:spcBef>
              <a:buFontTx/>
              <a:buChar char="•"/>
            </a:pPr>
            <a:r>
              <a:rPr lang="en-US" altLang="en-US" sz="1600" dirty="0">
                <a:latin typeface="Times New Roman" panose="02020603050405020304" pitchFamily="18" charset="0"/>
                <a:cs typeface="Times New Roman" panose="02020603050405020304" pitchFamily="18" charset="0"/>
                <a:sym typeface="Times New Roman" panose="02020603050405020304" pitchFamily="18" charset="0"/>
              </a:rPr>
              <a:t> </a:t>
            </a:r>
            <a:r>
              <a:rPr lang="en-US" dirty="0"/>
              <a:t>To generate Huffman codes, compress the input file, and restore the original file through decompression.</a:t>
            </a:r>
            <a:endParaRPr lang="en-US" altLang="en-US" dirty="0">
              <a:latin typeface="Times New Roman" panose="02020603050405020304" pitchFamily="18" charset="0"/>
              <a:cs typeface="Times New Roman" panose="02020603050405020304" pitchFamily="18" charset="0"/>
              <a:sym typeface="Times New Roman" panose="02020603050405020304" pitchFamily="18" charset="0"/>
            </a:endParaRPr>
          </a:p>
          <a:p>
            <a:pPr defTabSz="457200" eaLnBrk="1" hangingPunct="1">
              <a:spcBef>
                <a:spcPts val="1500"/>
              </a:spcBef>
            </a:pP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Description:</a:t>
            </a:r>
          </a:p>
          <a:p>
            <a:pPr defTabSz="457200" eaLnBrk="1" hangingPunct="1">
              <a:spcBef>
                <a:spcPts val="1500"/>
              </a:spcBef>
            </a:pPr>
            <a:r>
              <a:rPr lang="en-US" dirty="0"/>
              <a:t>This module generates binary Huffman codes from the Huffman Tree, compresses the input file by replacing characters with their codes, and decompresses the compressed file to recover the original data without any loss.</a:t>
            </a:r>
            <a:endParaRPr lang="en-US" altLang="en-US" b="1"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4104341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
        <p:nvSpPr>
          <p:cNvPr id="8" name="TextBox 7">
            <a:extLst>
              <a:ext uri="{FF2B5EF4-FFF2-40B4-BE49-F238E27FC236}">
                <a16:creationId xmlns:a16="http://schemas.microsoft.com/office/drawing/2014/main" id="{7B9A110D-BF01-5535-195B-FBD368FD2BD6}"/>
              </a:ext>
            </a:extLst>
          </p:cNvPr>
          <p:cNvSpPr txBox="1"/>
          <p:nvPr/>
        </p:nvSpPr>
        <p:spPr>
          <a:xfrm>
            <a:off x="228600" y="1752600"/>
            <a:ext cx="4953000" cy="3524042"/>
          </a:xfrm>
          <a:prstGeom prst="rect">
            <a:avLst/>
          </a:prstGeom>
          <a:noFill/>
        </p:spPr>
        <p:txBody>
          <a:bodyPr wrap="square">
            <a:spAutoFit/>
          </a:bodyPr>
          <a:lstStyle/>
          <a:p>
            <a:pPr defTabSz="457200" eaLnBrk="1" hangingPunct="1">
              <a:spcBef>
                <a:spcPts val="1500"/>
              </a:spcBef>
            </a:pPr>
            <a: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t>Input :</a:t>
            </a:r>
            <a:b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br>
            <a:r>
              <a:rPr lang="en-US" dirty="0"/>
              <a:t>Huffman Tree and input/compressed file.</a:t>
            </a:r>
          </a:p>
          <a:p>
            <a:pPr defTabSz="457200" eaLnBrk="1" hangingPunct="1">
              <a:spcBef>
                <a:spcPts val="1500"/>
              </a:spcBef>
            </a:pP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t>Output :</a:t>
            </a:r>
            <a:br>
              <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rPr>
            </a:br>
            <a:r>
              <a:rPr lang="en-US" dirty="0"/>
              <a:t>Compressed file and decompressed original file.</a:t>
            </a:r>
          </a:p>
          <a:p>
            <a:pPr defTabSz="457200" eaLnBrk="1" hangingPunct="1">
              <a:spcBef>
                <a:spcPts val="1500"/>
              </a:spcBef>
            </a:pPr>
            <a:br>
              <a:rPr lang="en-US" altLang="en-US" sz="1800"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t>Expected Result :</a:t>
            </a:r>
            <a:br>
              <a:rPr lang="en-US" altLang="en-US" b="1" dirty="0">
                <a:latin typeface="Times New Roman" panose="02020603050405020304" pitchFamily="18" charset="0"/>
                <a:cs typeface="Times New Roman" panose="02020603050405020304" pitchFamily="18" charset="0"/>
                <a:sym typeface="Times New Roman" panose="02020603050405020304" pitchFamily="18" charset="0"/>
              </a:rPr>
            </a:br>
            <a:r>
              <a:rPr lang="en-US" dirty="0"/>
              <a:t>The file is compressed with reduced storage space and accurately decompressed to reproduce the original content.</a:t>
            </a:r>
            <a:endParaRPr lang="en-US" altLang="en-US" sz="18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218364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81200" y="708812"/>
            <a:ext cx="4601353" cy="621965"/>
          </a:xfrm>
          <a:prstGeom prst="rect">
            <a:avLst/>
          </a:prstGeom>
        </p:spPr>
        <p:txBody>
          <a:bodyPr vert="horz" wrap="square" lIns="0" tIns="13970" rIns="0" bIns="0" rtlCol="0">
            <a:spAutoFit/>
          </a:bodyPr>
          <a:lstStyle/>
          <a:p>
            <a:pPr marL="843280">
              <a:lnSpc>
                <a:spcPct val="100000"/>
              </a:lnSpc>
              <a:spcBef>
                <a:spcPts val="110"/>
              </a:spcBef>
            </a:pPr>
            <a:r>
              <a:rPr lang="en-IN" spc="-10" dirty="0">
                <a:solidFill>
                  <a:schemeClr val="tx1"/>
                </a:solidFill>
              </a:rPr>
              <a:t>CONCLUSIONS</a:t>
            </a:r>
          </a:p>
        </p:txBody>
      </p:sp>
      <p:pic>
        <p:nvPicPr>
          <p:cNvPr id="3" name="object 3"/>
          <p:cNvPicPr/>
          <p:nvPr/>
        </p:nvPicPr>
        <p:blipFill>
          <a:blip r:embed="rId2" cstate="print"/>
          <a:stretch>
            <a:fillRect/>
          </a:stretch>
        </p:blipFill>
        <p:spPr>
          <a:xfrm>
            <a:off x="0" y="-29497"/>
            <a:ext cx="919162" cy="914399"/>
          </a:xfrm>
          <a:prstGeom prst="rect">
            <a:avLst/>
          </a:prstGeom>
        </p:spPr>
      </p:pic>
      <p:pic>
        <p:nvPicPr>
          <p:cNvPr id="4" name="object 4"/>
          <p:cNvPicPr/>
          <p:nvPr/>
        </p:nvPicPr>
        <p:blipFill>
          <a:blip r:embed="rId3" cstate="print"/>
          <a:stretch>
            <a:fillRect/>
          </a:stretch>
        </p:blipFill>
        <p:spPr>
          <a:xfrm>
            <a:off x="8305800" y="122238"/>
            <a:ext cx="698499" cy="88582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
        <p:nvSpPr>
          <p:cNvPr id="8" name="TextBox 7">
            <a:extLst>
              <a:ext uri="{FF2B5EF4-FFF2-40B4-BE49-F238E27FC236}">
                <a16:creationId xmlns:a16="http://schemas.microsoft.com/office/drawing/2014/main" id="{29134ADE-9949-7436-59D9-14BE22D5FBF3}"/>
              </a:ext>
            </a:extLst>
          </p:cNvPr>
          <p:cNvSpPr txBox="1"/>
          <p:nvPr/>
        </p:nvSpPr>
        <p:spPr>
          <a:xfrm>
            <a:off x="530225" y="1953468"/>
            <a:ext cx="8232775" cy="3268652"/>
          </a:xfrm>
          <a:prstGeom prst="rect">
            <a:avLst/>
          </a:prstGeom>
          <a:noFill/>
        </p:spPr>
        <p:txBody>
          <a:bodyPr wrap="square">
            <a:spAutoFit/>
          </a:bodyPr>
          <a:lstStyle/>
          <a:p>
            <a:pPr marL="228600" indent="-228600" defTabSz="457200" eaLnBrk="1" hangingPunct="1">
              <a:lnSpc>
                <a:spcPct val="150000"/>
              </a:lnSpc>
              <a:buFontTx/>
              <a:buChar char="•"/>
            </a:pP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The File Compression System using Huffman Coding was successfully designed and implemented using the C programming language.</a:t>
            </a:r>
          </a:p>
          <a:p>
            <a:pPr marL="228600" indent="-228600" defTabSz="457200" eaLnBrk="1" hangingPunct="1">
              <a:lnSpc>
                <a:spcPct val="150000"/>
              </a:lnSpc>
              <a:buFontTx/>
              <a:buChar char="•"/>
            </a:pP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The project effectively reduces file size by assigning variable-length binary codes based on character frequencies, resulting in efficient lossless compression.</a:t>
            </a:r>
          </a:p>
          <a:p>
            <a:pPr marL="228600" indent="-228600" defTabSz="457200" eaLnBrk="1" hangingPunct="1">
              <a:lnSpc>
                <a:spcPct val="150000"/>
              </a:lnSpc>
              <a:buFontTx/>
              <a:buChar char="•"/>
            </a:pP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The Huffman Tree and Min Heap data structures enabled optimal code generation and improved compression performance.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
        <p:nvSpPr>
          <p:cNvPr id="2" name="object 2" descr="$PPTXTitle"/>
          <p:cNvSpPr txBox="1">
            <a:spLocks noGrp="1"/>
          </p:cNvSpPr>
          <p:nvPr>
            <p:ph type="title"/>
          </p:nvPr>
        </p:nvSpPr>
        <p:spPr>
          <a:xfrm>
            <a:off x="2286000" y="533400"/>
            <a:ext cx="4173508" cy="621965"/>
          </a:xfrm>
          <a:prstGeom prst="rect">
            <a:avLst/>
          </a:prstGeom>
        </p:spPr>
        <p:txBody>
          <a:bodyPr vert="horz" wrap="square" lIns="0" tIns="13970" rIns="0" bIns="0" rtlCol="0">
            <a:spAutoFit/>
          </a:bodyPr>
          <a:lstStyle/>
          <a:p>
            <a:pPr marL="969644">
              <a:lnSpc>
                <a:spcPct val="100000"/>
              </a:lnSpc>
              <a:spcBef>
                <a:spcPts val="110"/>
              </a:spcBef>
            </a:pPr>
            <a:r>
              <a:rPr lang="en-IN" spc="-10" dirty="0">
                <a:solidFill>
                  <a:schemeClr val="tx1"/>
                </a:solidFill>
              </a:rPr>
              <a:t>REFERENCES</a:t>
            </a:r>
          </a:p>
        </p:txBody>
      </p:sp>
      <p:sp>
        <p:nvSpPr>
          <p:cNvPr id="6" name="TextBox 5">
            <a:extLst>
              <a:ext uri="{FF2B5EF4-FFF2-40B4-BE49-F238E27FC236}">
                <a16:creationId xmlns:a16="http://schemas.microsoft.com/office/drawing/2014/main" id="{82F1987C-CFCA-73FE-722D-AEB88D28D851}"/>
              </a:ext>
            </a:extLst>
          </p:cNvPr>
          <p:cNvSpPr txBox="1"/>
          <p:nvPr/>
        </p:nvSpPr>
        <p:spPr>
          <a:xfrm>
            <a:off x="380999" y="1524000"/>
            <a:ext cx="8572499" cy="4716932"/>
          </a:xfrm>
          <a:prstGeom prst="rect">
            <a:avLst/>
          </a:prstGeom>
          <a:noFill/>
        </p:spPr>
        <p:txBody>
          <a:bodyPr wrap="square">
            <a:spAutoFit/>
          </a:bodyPr>
          <a:lstStyle/>
          <a:p>
            <a:pPr marL="228600" indent="-228600" defTabSz="457200" eaLnBrk="1" hangingPunct="1">
              <a:lnSpc>
                <a:spcPct val="120000"/>
              </a:lnSpc>
              <a:buFontTx/>
              <a:buChar char="•"/>
            </a:pPr>
            <a:r>
              <a:rPr lang="en-US" altLang="en-US" sz="1800" dirty="0">
                <a:latin typeface="Times Roman"/>
                <a:ea typeface="Times Roman"/>
                <a:cs typeface="Times Roman"/>
                <a:sym typeface="Times Roman"/>
              </a:rPr>
              <a:t>Shah, M., Yu, X., Di, S., Becchi, M., &amp; Cappello, F. (2023). </a:t>
            </a:r>
            <a:r>
              <a:rPr lang="en-US" altLang="en-US" sz="1800" i="1" dirty="0">
                <a:latin typeface="Times Roman"/>
                <a:ea typeface="Times Roman"/>
                <a:cs typeface="Times Roman"/>
                <a:sym typeface="Times Roman"/>
              </a:rPr>
              <a:t>Lightweight Huffman Coding for Efficient GPU Compression</a:t>
            </a:r>
            <a:r>
              <a:rPr lang="en-US" altLang="en-US" sz="1800" dirty="0">
                <a:latin typeface="Times Roman"/>
                <a:ea typeface="Times Roman"/>
                <a:cs typeface="Times Roman"/>
                <a:sym typeface="Times Roman"/>
              </a:rPr>
              <a:t>. Proceedings of the ACM International Conference on Supercomputing (ICS 2023), pp. 99–110.</a:t>
            </a:r>
          </a:p>
          <a:p>
            <a:pPr marL="228600" indent="-228600" defTabSz="457200" eaLnBrk="1" hangingPunct="1">
              <a:lnSpc>
                <a:spcPct val="120000"/>
              </a:lnSpc>
              <a:buFontTx/>
              <a:buChar char="•"/>
            </a:pPr>
            <a:r>
              <a:rPr lang="en-US" altLang="en-US" sz="1800" dirty="0" err="1">
                <a:latin typeface="Times Roman"/>
                <a:ea typeface="Times Roman"/>
                <a:cs typeface="Times Roman"/>
                <a:sym typeface="Times Roman"/>
              </a:rPr>
              <a:t>Nasif</a:t>
            </a:r>
            <a:r>
              <a:rPr lang="en-US" altLang="en-US" sz="1800" dirty="0">
                <a:latin typeface="Times Roman"/>
                <a:ea typeface="Times Roman"/>
                <a:cs typeface="Times Roman"/>
                <a:sym typeface="Times Roman"/>
              </a:rPr>
              <a:t>, A., Othman, Z. A., Sani, N. S., &amp; Hasan, M. K. (2024). </a:t>
            </a:r>
            <a:r>
              <a:rPr lang="en-US" altLang="en-US" sz="1800" i="1" dirty="0">
                <a:latin typeface="Times Roman"/>
                <a:ea typeface="Times Roman"/>
                <a:cs typeface="Times Roman"/>
                <a:sym typeface="Times Roman"/>
              </a:rPr>
              <a:t>Huffman Deep Compression of Edge Node Data for Reducing IoT Network Traffic</a:t>
            </a:r>
            <a:r>
              <a:rPr lang="en-US" altLang="en-US" sz="1800" dirty="0">
                <a:latin typeface="Times Roman"/>
                <a:ea typeface="Times Roman"/>
                <a:cs typeface="Times Roman"/>
                <a:sym typeface="Times Roman"/>
              </a:rPr>
              <a:t>. IEEE Access.</a:t>
            </a:r>
          </a:p>
          <a:p>
            <a:pPr marL="228600" indent="-228600" defTabSz="457200" eaLnBrk="1" hangingPunct="1">
              <a:lnSpc>
                <a:spcPct val="120000"/>
              </a:lnSpc>
              <a:buFontTx/>
              <a:buChar char="•"/>
            </a:pPr>
            <a:r>
              <a:rPr lang="en-US" altLang="en-US" sz="1800" dirty="0">
                <a:latin typeface="Times Roman"/>
                <a:ea typeface="Times Roman"/>
                <a:cs typeface="Times Roman"/>
                <a:sym typeface="Times Roman"/>
              </a:rPr>
              <a:t>Prakash, F., Singh, V., &amp; Saxena, A. K. (2024). </a:t>
            </a:r>
            <a:r>
              <a:rPr lang="en-US" altLang="en-US" sz="1800" i="1" dirty="0">
                <a:latin typeface="Times Roman"/>
                <a:ea typeface="Times Roman"/>
                <a:cs typeface="Times Roman"/>
                <a:sym typeface="Times Roman"/>
              </a:rPr>
              <a:t>An Evaluation of Arithmetic and Huffman Coding in Data Compression &amp; Source Coding</a:t>
            </a:r>
            <a:r>
              <a:rPr lang="en-US" altLang="en-US" sz="1800" dirty="0">
                <a:latin typeface="Times Roman"/>
                <a:ea typeface="Times Roman"/>
                <a:cs typeface="Times Roman"/>
                <a:sym typeface="Times Roman"/>
              </a:rPr>
              <a:t>. Proceedings of the International Conference on Optimization Computing and Wireless Communication (ICOCWC 2024).</a:t>
            </a:r>
          </a:p>
          <a:p>
            <a:pPr marL="228600" indent="-228600" defTabSz="457200" eaLnBrk="1" hangingPunct="1">
              <a:lnSpc>
                <a:spcPct val="120000"/>
              </a:lnSpc>
              <a:buFontTx/>
              <a:buChar char="•"/>
            </a:pPr>
            <a:r>
              <a:rPr lang="en-US" altLang="en-US" sz="1800" dirty="0">
                <a:latin typeface="Times Roman"/>
                <a:ea typeface="Times Roman"/>
                <a:cs typeface="Times Roman"/>
                <a:sym typeface="Times Roman"/>
              </a:rPr>
              <a:t>Lin, Y., Liu, J.-C., Chang, C.-C., &amp; Chang, C.-C. (2024). </a:t>
            </a:r>
            <a:r>
              <a:rPr lang="en-US" altLang="en-US" sz="1800" i="1" dirty="0">
                <a:latin typeface="Times Roman"/>
                <a:ea typeface="Times Roman"/>
                <a:cs typeface="Times Roman"/>
                <a:sym typeface="Times Roman"/>
              </a:rPr>
              <a:t>Lossless Recompression of Vector Quantization Index Table for Texture Images Based on Adaptive Huffman Coding Through Multi-Type Processing</a:t>
            </a:r>
            <a:r>
              <a:rPr lang="en-US" altLang="en-US" sz="1800" dirty="0">
                <a:latin typeface="Times Roman"/>
                <a:ea typeface="Times Roman"/>
                <a:cs typeface="Times Roman"/>
                <a:sym typeface="Times Roman"/>
              </a:rPr>
              <a:t>. Symmetry, 16(11), 1419.</a:t>
            </a:r>
          </a:p>
          <a:p>
            <a:pPr marL="228600" indent="-228600" defTabSz="457200" eaLnBrk="1" hangingPunct="1">
              <a:lnSpc>
                <a:spcPct val="120000"/>
              </a:lnSpc>
              <a:buFontTx/>
              <a:buChar char="•"/>
            </a:pPr>
            <a:r>
              <a:rPr lang="en-US" altLang="en-US" sz="1800" dirty="0" err="1">
                <a:latin typeface="Times Roman"/>
                <a:ea typeface="Times Roman"/>
                <a:cs typeface="Times Roman"/>
                <a:sym typeface="Times Roman"/>
              </a:rPr>
              <a:t>Mahfi</a:t>
            </a:r>
            <a:r>
              <a:rPr lang="en-US" altLang="en-US" sz="1800" dirty="0">
                <a:latin typeface="Times Roman"/>
                <a:ea typeface="Times Roman"/>
                <a:cs typeface="Times Roman"/>
                <a:sym typeface="Times Roman"/>
              </a:rPr>
              <a:t>, M. S., Hasan, M. M., &amp; Hossain, G. (2025). </a:t>
            </a:r>
            <a:r>
              <a:rPr lang="en-US" altLang="en-US" sz="1800" i="1" dirty="0">
                <a:latin typeface="Times Roman"/>
                <a:ea typeface="Times Roman"/>
                <a:cs typeface="Times Roman"/>
                <a:sym typeface="Times Roman"/>
              </a:rPr>
              <a:t>OBHS: An Optimized Block Huffman Scheme for Real-Time Audio Compression</a:t>
            </a:r>
            <a:r>
              <a:rPr lang="en-US" altLang="en-US" sz="1800" dirty="0">
                <a:latin typeface="Times Roman"/>
                <a:ea typeface="Times Roman"/>
                <a:cs typeface="Times Roman"/>
                <a:sym typeface="Times Roman"/>
              </a:rPr>
              <a:t>. </a:t>
            </a:r>
            <a:r>
              <a:rPr lang="en-US" altLang="en-US" sz="1800" dirty="0" err="1">
                <a:latin typeface="Times Roman"/>
                <a:ea typeface="Times Roman"/>
                <a:cs typeface="Times Roman"/>
                <a:sym typeface="Times Roman"/>
              </a:rPr>
              <a:t>arXiv</a:t>
            </a:r>
            <a:r>
              <a:rPr lang="en-US" altLang="en-US" sz="1800" dirty="0">
                <a:latin typeface="Times Roman"/>
                <a:ea typeface="Times Roman"/>
                <a:cs typeface="Times Roman"/>
                <a:sym typeface="Times Roman"/>
              </a:rPr>
              <a:t> preprint.</a:t>
            </a:r>
          </a:p>
        </p:txBody>
      </p:sp>
      <p:pic>
        <p:nvPicPr>
          <p:cNvPr id="7" name="object 3">
            <a:extLst>
              <a:ext uri="{FF2B5EF4-FFF2-40B4-BE49-F238E27FC236}">
                <a16:creationId xmlns:a16="http://schemas.microsoft.com/office/drawing/2014/main" id="{946A8A3F-94C1-17E2-C852-37FC8BBFC508}"/>
              </a:ext>
            </a:extLst>
          </p:cNvPr>
          <p:cNvPicPr/>
          <p:nvPr/>
        </p:nvPicPr>
        <p:blipFill>
          <a:blip r:embed="rId2" cstate="print"/>
          <a:stretch>
            <a:fillRect/>
          </a:stretch>
        </p:blipFill>
        <p:spPr>
          <a:xfrm>
            <a:off x="0" y="-29497"/>
            <a:ext cx="919162" cy="914399"/>
          </a:xfrm>
          <a:prstGeom prst="rect">
            <a:avLst/>
          </a:prstGeom>
        </p:spPr>
      </p:pic>
      <p:pic>
        <p:nvPicPr>
          <p:cNvPr id="8" name="object 4">
            <a:extLst>
              <a:ext uri="{FF2B5EF4-FFF2-40B4-BE49-F238E27FC236}">
                <a16:creationId xmlns:a16="http://schemas.microsoft.com/office/drawing/2014/main" id="{CF91A09E-1D4F-E64C-9E4C-82D9F5F9EE33}"/>
              </a:ext>
            </a:extLst>
          </p:cNvPr>
          <p:cNvPicPr/>
          <p:nvPr/>
        </p:nvPicPr>
        <p:blipFill>
          <a:blip r:embed="rId3" cstate="print"/>
          <a:stretch>
            <a:fillRect/>
          </a:stretch>
        </p:blipFill>
        <p:spPr>
          <a:xfrm>
            <a:off x="8305800" y="122238"/>
            <a:ext cx="698499" cy="8858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
        <p:nvSpPr>
          <p:cNvPr id="9" name="Title 8">
            <a:extLst>
              <a:ext uri="{FF2B5EF4-FFF2-40B4-BE49-F238E27FC236}">
                <a16:creationId xmlns:a16="http://schemas.microsoft.com/office/drawing/2014/main" id="{D50E7651-21E4-50EC-CB39-5CCA55757653}"/>
              </a:ext>
            </a:extLst>
          </p:cNvPr>
          <p:cNvSpPr>
            <a:spLocks noGrp="1"/>
          </p:cNvSpPr>
          <p:nvPr>
            <p:ph type="title"/>
          </p:nvPr>
        </p:nvSpPr>
        <p:spPr/>
        <p:txBody>
          <a:bodyPr/>
          <a:lstStyle/>
          <a:p>
            <a:endParaRPr lang="en-IN"/>
          </a:p>
        </p:txBody>
      </p:sp>
      <p:pic>
        <p:nvPicPr>
          <p:cNvPr id="10" name="WhatsApp Image 2026-04-22 at 10.05.07.jpeg" descr="WhatsApp Image 2026-04-22 at 10.05.07.jpeg">
            <a:extLst>
              <a:ext uri="{FF2B5EF4-FFF2-40B4-BE49-F238E27FC236}">
                <a16:creationId xmlns:a16="http://schemas.microsoft.com/office/drawing/2014/main" id="{B493B263-CCFD-C77A-AE2C-09AE74B3C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7111" y="1752600"/>
            <a:ext cx="4549775"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extLst>
      <p:ext uri="{BB962C8B-B14F-4D97-AF65-F5344CB8AC3E}">
        <p14:creationId xmlns:p14="http://schemas.microsoft.com/office/powerpoint/2010/main" val="2649457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TotalTime>
  <Words>941</Words>
  <Application>Microsoft Office PowerPoint</Application>
  <PresentationFormat>On-screen Show (4:3)</PresentationFormat>
  <Paragraphs>92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Helvetica Neue</vt:lpstr>
      <vt:lpstr>Times New Roman</vt:lpstr>
      <vt:lpstr>Times Roman</vt:lpstr>
      <vt:lpstr>Office Theme</vt:lpstr>
      <vt:lpstr>CSA0307- Data Structures</vt:lpstr>
      <vt:lpstr>OBJECTIVES </vt:lpstr>
      <vt:lpstr>LITERATURE REVIEW</vt:lpstr>
      <vt:lpstr>PROBLEM STATEMENT</vt:lpstr>
      <vt:lpstr>PROPOSED OBJECTIVES</vt:lpstr>
      <vt:lpstr>ARCHITECTURE</vt:lpstr>
      <vt:lpstr>METHODOLOGY</vt:lpstr>
      <vt:lpstr>PowerPoint Presentation</vt:lpstr>
      <vt:lpstr>PowerPoint Presentation</vt:lpstr>
      <vt:lpstr>PowerPoint Presentation</vt:lpstr>
      <vt:lpstr>PowerPoint Presentation</vt:lpstr>
      <vt:lpstr>CONCLUSIONS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Capstone PPT.pptx</dc:title>
  <dc:creator>muthu kumar</dc:creator>
  <cp:lastModifiedBy>JAFFRIN N</cp:lastModifiedBy>
  <cp:revision>1</cp:revision>
  <dcterms:created xsi:type="dcterms:W3CDTF">2026-07-19T13:27:55Z</dcterms:created>
  <dcterms:modified xsi:type="dcterms:W3CDTF">2026-08-02T15:42:06Z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2026-07-19T00:00:00Z</vt:filetime>
  </property>
  <property fmtid="{D5CDD505-2E9C-101B-9397-08002B2CF9AE}" pid="4" name="Creator">
    <vt:lpwstr>Google</vt:lpwstr>
  </property>
  <property fmtid="{D5CDD505-2E9C-101B-9397-08002B2CF9AE}" pid="5" name="LastSaved">
    <vt:filetime>2026-07-19T00:00:00Z</vt:filetime>
  </property>
</Properties>
</file>